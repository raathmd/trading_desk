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TRAMMO TRADING DESK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Component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CAF9"/>
                </a:solidFill>
              </a:rPr>
              <a:t>Visual Flow of the Decision-Support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This presentation covers the nine major components of the Trading Desk platform — from raw external data through to optimal trade allocation and blockchain audit. Each component includes its inputs, outputs, internal design, and key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1097280" cy="3657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4B5F6"/>
                </a:solidFill>
              </a:rPr>
              <a:t>NH3 Domestic Barge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6634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ectangle 9"/>
          <p:cNvSpPr/>
          <p:nvPr/>
        </p:nvSpPr>
        <p:spPr>
          <a:xfrm>
            <a:off x="2103120" y="4572000"/>
            <a:ext cx="1097280" cy="3657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4B5F6"/>
                </a:solidFill>
              </a:rPr>
              <a:t>NH3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6634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66160" y="4572000"/>
            <a:ext cx="1097280" cy="3657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4B5F6"/>
                </a:solidFill>
              </a:rPr>
              <a:t>Sulphur International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6634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0" y="4572000"/>
            <a:ext cx="1097280" cy="3657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4B5F6"/>
                </a:solidFill>
              </a:rPr>
              <a:t>Petcoke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7D8B"/>
                </a:solidFill>
              </a:rPr>
              <a:t>Confidential — Internal Use Only  |  February 2026  |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976D2"/>
                </a:solidFill>
              </a:rPr>
              <a:t>SYSTEM ARCHITECTURE — FULL COMPONENT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How data flows through the five vertical layers from external sources to trade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31520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LAYER 1 — EXTERNAL DATA SOURCES (9 feeds)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USGS
Gauges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4752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NOAA
Weather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USACE
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7056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EIA
Nat Gas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3208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Market
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Freight
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5512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Insight
TMS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41664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Fleet
Mgmt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57816" y="932688"/>
            <a:ext cx="1161288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SAP FI
Work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517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7D8B"/>
                </a:solidFill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792224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LAYER 2 — DATA INGESTION &amp; LIVE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93392"/>
            <a:ext cx="4114800" cy="59436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Data Pollers
9 adapters · validated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993392"/>
            <a:ext cx="3657600" cy="59436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Live State Store
GenServer · PubSub · delta detector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993392"/>
            <a:ext cx="3383280" cy="59436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Contract Ingestion
SharePoint→AI→SAP→constraints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2128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7D8B"/>
                </a:solidFill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2926080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LAYER 3 — VARIABLE ASSEMBLY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127248"/>
            <a:ext cx="2743200" cy="59436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Product Group Frame
NH3 Dom / NH3 Intl / Sulphur / Petcoke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127248"/>
            <a:ext cx="3657600" cy="59436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20 Variables Assembled
6 Env · 5 Ops · 9 Commercial · overrides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127248"/>
            <a:ext cx="2286000" cy="59436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Constraint Set
Contract bounds + operability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9504" y="334670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34670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7D8B"/>
                </a:solidFill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069080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LAYER 4 — OPTIMISATION 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270248"/>
            <a:ext cx="5303520" cy="59436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LP Solver (HiGHS / Zig)
Maximise profit subject to constraints · shadow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270248"/>
            <a:ext cx="557784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BF360C"/>
                </a:solidFill>
              </a:rPr>
              <a:t>Monte Carlo Engine
1,000 perturbed scenarios · P5/P25/P50/P75/P95 · STRONG GO–NO GO 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956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7D8B"/>
                </a:solidFill>
              </a:rP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523036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LAYER 5 — DECISION &amp; 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431536"/>
            <a:ext cx="256032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Auto Trader
Delta monitor · threshold alerts · auto re-solve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5431536"/>
            <a:ext cx="3931920" cy="59436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Scenario UI (LiveView)
Real-time sliders · overrides · results · map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60" y="5431536"/>
            <a:ext cx="3657600" cy="594360"/>
          </a:xfrm>
          <a:prstGeom prst="rect">
            <a:avLst/>
          </a:prstGeom>
          <a:solidFill>
            <a:srgbClr val="ECEFF1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455A64"/>
                </a:solidFill>
              </a:rPr>
              <a:t>Notifications &amp; Audit
Email/Slack/Teams · BSV OP_RETURN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69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669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01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Data Ingestion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Nine API adapters fetch live data from external and internal sources on independent polling schedules.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USGS river stage (15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NOAA weather (30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USACE lock delays (60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EIA nat gas (60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22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Market feed NH3 prices (5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786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Freight broker API 4 routes (15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834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Insight TMS inventory (15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906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Fleet management barge count (30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467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SAP FI working capital (60 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Typed &amp; validated variable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Source timestamps (as_of)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Fetch status :ok / :error / :stale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Written to Live State via GenServer.cast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Scheduled
Poller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4752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HTTP
Adapter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15184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Parse &amp;
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5616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Seed
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LiveState
.update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Fallback seeds ensure the solver always has a value even when an API is unavailable. working_cap defaults to 0 (no credit assumed) when SAP FI is not connected.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43400"/>
            <a:ext cx="9144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Elixir Req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4343400"/>
            <a:ext cx="8458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GenServer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17420" y="4343400"/>
            <a:ext cx="9144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Jason 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23260" y="4343400"/>
            <a:ext cx="16002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:timer.send_interval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4900" y="4343400"/>
            <a:ext cx="12573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INSIGHT_API_URL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43400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BROKER_API_URL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4343400"/>
            <a:ext cx="9144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SAP_FI_URL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892040"/>
            <a:ext cx="286664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77540" y="4892040"/>
            <a:ext cx="286664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892040"/>
            <a:ext cx="286664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Interval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83980" y="4892040"/>
            <a:ext cx="286664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166360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USGS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77540" y="5166360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river_stage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5166360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15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83980" y="5166360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18.0 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04104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NOAA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7540" y="5404104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temp_f, wind_mph, vis_mi, precip_in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404104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30 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83980" y="5404104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Seasonal seeds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641848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Insight TMS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77540" y="5641848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inv_mer, inv_nio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5641848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15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83980" y="5641848"/>
            <a:ext cx="28666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11,500 / 7,800 tons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879592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SAP FI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77540" y="5879592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working_cap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5879592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60 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3980" y="5879592"/>
            <a:ext cx="286664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$0 (no credit)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3 of 11 — 01 Data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1976D2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02 ·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Live State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A supervised GenServer holds the authoritative in-memory snapshot of all 20 variables. Phoenix PubSub fans out every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Variable updates from 9 pollers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Trader manual overrides (LiveView)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Outage toggle: mer_outage, nio_outage (manual)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PubSub broadcast on every state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Delta map: {variable → {old, new, delta_pct}}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Full Variables struct for on-demand 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Source timestamps per variable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353312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Poller /
Trader
(cast)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834640"/>
            <a:ext cx="1353312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GenServer
handle_cast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834640"/>
            <a:ext cx="1353312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Delta
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834640"/>
            <a:ext cx="135331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PubSub
Broadcast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Outage flags (mer_outage, nio_outage) are MANUAL — trader-toggled from the dashboard. They are never auto-set from data, preventing false terminal shutdowns from transient API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43400"/>
            <a:ext cx="8458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GenServer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1580" y="4343400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Phoenix.PubSub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91740" y="4343400"/>
            <a:ext cx="12573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Supervisor tree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343400"/>
            <a:ext cx="146304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ETS cache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4 of 11 — 02 Live State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5E35B1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03 ·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Variable Assembly &amp; Product Group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Product-group frame defines defaults, ranges, perturbation sigmas and LP structure. Trader overrides apply on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Live State Store snapshot (20 values)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Active product group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Trader overrides from UI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Active contract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%Variables{} struct (20 fields)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LP constraint set (bounds, equality, route limits)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Binary payload for Zig port (160 bytes, 20 × f64)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Live State
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4752" y="2834640"/>
            <a:ext cx="1060704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Product Group
Frame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Trader
Overrides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6" y="2834640"/>
            <a:ext cx="1060704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Contract
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834640"/>
            <a:ext cx="1060704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Variables{}
+ LP bounds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Four product groups: NH3 Domestic Barge, NH3 International, Sulphur International, Petcoke. Each has its own frame with route definitions, variable defaults, and constraint templates.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16687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TradingDesk.Variables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4540" y="4343400"/>
            <a:ext cx="16002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AmmoniaDomesticFrame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2618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ConstraintBridge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4350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TemplateRegistry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5 of 11 — 03 Variable Assembly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04 ·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LP Solver (HiGHS via Zig 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Maximises net trading margin across all active routes subject to inventory, capital, operability and contract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Variables binary (160 bytes, 20×f64)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LP constraint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Route definitions (4 for NH3 Domestic)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Optimal route allocations (MT per route)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Objective value (net margin $/day)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Shadow prices (dual values per constraint)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Solve status :optimal / :infeasible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Variables{}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4752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to_binary/1
160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2834640"/>
            <a:ext cx="1060704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Zig Port
stdin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6" y="2834640"/>
            <a:ext cx="1060704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HiGHS
LP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parse_output
Elixir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Objective (NH3 Domestic): Maximise Σr xr × (sellr − buy − freightr).  Key constraints: inv_mer/inv_nio supply caps, barge_count fleet limit, working_cap liquidity, river_stage ≥ 9 ft operability.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173736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HiGHS (open-source LP)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343400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Zig port / NIF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343400"/>
            <a:ext cx="9829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Elixir 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7700" y="4343400"/>
            <a:ext cx="180594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binary pattern matching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576986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892040"/>
            <a:ext cx="576986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166360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Supply — Meredosia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5166360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x(Mer routes) ≤ inv_mer  (if !mer_outage)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404104"/>
            <a:ext cx="576986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Supply — Niota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5404104"/>
            <a:ext cx="576986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x(Nio routes) ≤ inv_nio  (if !nio_outage)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41848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Fleet capacity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641848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Σ x(all) ≤ barge_count × 1,500 MT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879592"/>
            <a:ext cx="576986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Working capital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5879592"/>
            <a:ext cx="576986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Σ x × nola_buy ≤ working_cap  (if &gt; 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117336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Operability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6117336"/>
            <a:ext cx="576986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river_stage ≥ 9.0 ft, lock_hrs ≤ 48, vis_mi ≥ 0.25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6 of 11 — 04 LP Solver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E6510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05 ·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Monte Carlo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1,000 perturbed solves produce a full P&amp;L distribution (P5–P95) and a five-level confidence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Base Variables{} (point estimate)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Per-variable perturbation config (stddev)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n_scenarios (default 1,000)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1,000 individual P&amp;L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P5 / P25 / P50 / P75 / P95 percentile fan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Confidence signal (STRONG GO → NO GO)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Worst-case / best-case allocation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060704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Base
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4752" y="2834640"/>
            <a:ext cx="1060704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Perturb
×1000
Normal(μ,σ)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2834640"/>
            <a:ext cx="1060704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LP Solve
×1000
parallel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6" y="2834640"/>
            <a:ext cx="1060704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Sort P&amp;L
percentile
slice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834640"/>
            <a:ext cx="1060704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Signal
P50 vs
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56615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139446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Task.async_stream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20" y="3749039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:rand.normal_s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0380" y="3749039"/>
            <a:ext cx="173736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Enum.sort + percentile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9180" y="3749039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n=1000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383438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4892040"/>
            <a:ext cx="383438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6240" y="4892040"/>
            <a:ext cx="3834384" cy="27432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Colour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66360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STRONG GO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5166360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P25 ≥ high AND P50 ≥ very_high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6240" y="5166360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Dark green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404104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280" y="5404104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P50 ≥ high AND P5 &gt;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6240" y="5404104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Green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41848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CAUTIOUS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5641848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P50 &gt; 0 AND P5 &lt;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16240" y="5641848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Amber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879592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WEAK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5280" y="5879592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P50 ≤ low_threshold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6240" y="5879592"/>
            <a:ext cx="3834384" cy="237744"/>
          </a:xfrm>
          <a:prstGeom prst="rect">
            <a:avLst/>
          </a:prstGeom>
          <a:solidFill>
            <a:srgbClr val="ECEFF1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Orange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117336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NO 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6117336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P50 &lt; 0 OR operability binding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16240" y="6117336"/>
            <a:ext cx="383438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455A64"/>
                </a:solidFill>
              </a:rPr>
              <a:t>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7 of 11 — 05 Monte Carlo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880E4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06 · 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Auto 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Monitors live state deltas; triggers automatic re-solve and notifications when variable thresholds are crossed.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PubSub :state_changed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DeltaConfig thresholds (per variable)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Previous P50 solve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min_solve_interval_ms cooldown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Trader notification (email/Slack/Teams)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New solve result in TradeDB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BSV OP_RETURN blockchain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:triggered_mask bitmask updated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865632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State
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08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9680" y="2834640"/>
            <a:ext cx="865632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Delta
Check
|Δ|≥σ?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044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5040" y="2834640"/>
            <a:ext cx="865632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Cooldown
OK?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34640"/>
            <a:ext cx="86563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Re-Solve
LP+MC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16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2834640"/>
            <a:ext cx="86563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Compare
P50
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652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51120" y="2834640"/>
            <a:ext cx="865632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Notify &amp;
Blockchain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Centre-point approach: always re-optimises from the current live-state centre point, not from the extreme of the triggering variable. Prevents over-reaction to data spikes.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19431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Phoenix.PubSub subscriber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08860" y="4343400"/>
            <a:ext cx="16687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DeltaConfig GenServer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4343400"/>
            <a:ext cx="9144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AutoRunner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4343400"/>
            <a:ext cx="12573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:timer cooldown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8 of 11 — 06 Auto Trader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5E35B1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07 ·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Contract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AI-powered clause extraction converts legal contracts into LP solver constraints with full SAP audit trail.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Contract PDFs / DOCX (SharePoint watch folder)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SAP purchase order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Clause template registry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Extracted clause records (type, value, certainty)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SAP validation result (matched / unmatched)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LP constraint bounds per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Legal review queue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865632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SharePoint
File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08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9680" y="2834640"/>
            <a:ext cx="865632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PDF/DOCX
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044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5040" y="2834640"/>
            <a:ext cx="865632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Claude AI
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34640"/>
            <a:ext cx="865632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SAP
X-Validate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116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2834640"/>
            <a:ext cx="865632" cy="64008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11B92"/>
                </a:solidFill>
              </a:rPr>
              <a:t>Legal
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652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1120" y="2834640"/>
            <a:ext cx="86563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LP
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Extracted clause types: PRICE (nola_buy bound), VOLUME (min/max MT per route), OPERABILITY (river stage floor), FORCE_MAJEURE (outage conditions), PORTS_AND_BERTH (route inclusion), INCOTERMS.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43400"/>
            <a:ext cx="22860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Claude API (claude-sonnet-4-6)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SAP Business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4343400"/>
            <a:ext cx="125730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SharePoint REST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17820" y="4343400"/>
            <a:ext cx="15316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Contracts.Inventory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TemplateRegistry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9 of 11 — 07 Contract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00695C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08 ·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Scenario UI (Phoenix LiveView)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Real-time server-rendered dashboard: traders adjust variables and see updated solve results instantly without page reload.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Live variable values pushed by PubSub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Trader slider adjustments (browser events)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Override checkbox / text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Product group selector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P&amp;L fan chart (P5/P25/P50/P75/P95 bars)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Confidence signal badge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Optimal route allocation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Shadow price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225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Mississippi River map (barge positions &amp; routes)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34640"/>
            <a:ext cx="1060704" cy="6400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Browser
Event
phx-change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4752" y="2834640"/>
            <a:ext cx="1060704" cy="6400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handle_event
LiveView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15184" y="2834640"/>
            <a:ext cx="1060704" cy="6400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Apply
Override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5616" y="2834640"/>
            <a:ext cx="1060704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Re-Solve
LP+MC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2834640"/>
            <a:ext cx="1060704" cy="6400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695C"/>
                </a:solidFill>
              </a:rPr>
              <a:t>assign
(results)
re-render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Real-time push: when Live State updates any variable (e.g., new Insight TMS inventory read), PubSub delivers the change directly to open LiveView sockets — no manual refresh needed.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Phoenix LiveView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4343400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Phoenix.PubSub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Leaflet.js (map)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343400"/>
            <a:ext cx="146304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Chart.js (P&amp;L fan)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343400"/>
            <a:ext cx="105156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Tailwind 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10 of 11 — 08 Scenario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1005840" cy="320040"/>
          </a:xfrm>
          <a:prstGeom prst="rect">
            <a:avLst/>
          </a:prstGeom>
          <a:solidFill>
            <a:srgbClr val="455A64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09 ·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044"/>
                </a:solidFill>
              </a:rPr>
              <a:t>Notifications &amp; Blockchain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12064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55A64"/>
                </a:solidFill>
              </a:rPr>
              <a:t>Configurable alerts via Email, Slack, Teams. Every solve committed to BSV blockchain via OP_RETURN for tamper-proof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182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256032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D47A1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Solve result (SolveResult struct)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DeltaConfig notification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Notification channel config (email/Slack/Teams)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Cooldown settings per channel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Email via SMTP (HTML template)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Slack message via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10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Teams card via Webhook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→ BSV OP_RETURN transaction (chain_commit_id)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606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INTERNAL DESIGN — DATA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865632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Solve
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08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9680" y="2834640"/>
            <a:ext cx="865632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47A1"/>
                </a:solidFill>
              </a:rPr>
              <a:t>Evaluate
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044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5040" y="2834640"/>
            <a:ext cx="865632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F360C"/>
                </a:solidFill>
              </a:rPr>
              <a:t>Notify
Email/Slack
/Teams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34640"/>
            <a:ext cx="86563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BSV Tx
Build
OP_RETURN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16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2834640"/>
            <a:ext cx="865632" cy="640080"/>
          </a:xfrm>
          <a:prstGeom prst="rect">
            <a:avLst/>
          </a:prstGeom>
          <a:solidFill>
            <a:srgbClr val="0F2044"/>
          </a:solidFill>
          <a:ln w="1905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Broadcast
&amp; Mine
BSV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6528" y="30175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51120" y="2834640"/>
            <a:ext cx="865632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chain_
commit_id
TradeDB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3657600"/>
            <a:ext cx="1133856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chain_commit_id (BSV TXID) is stored in every solves row, linking the DB record to the immutable blockchain proof. Any trade decision can be independently verified by presenting the TXID.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7D8B"/>
                </a:solidFill>
              </a:rPr>
              <a:t>TECHNOLOGIES: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11887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Swoosh (email)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4343400"/>
            <a:ext cx="112014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Slack Webhook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66060" y="4343400"/>
            <a:ext cx="112014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Teams Webhook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40" y="4343400"/>
            <a:ext cx="132588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BSV (Bitcoin SV)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4343400"/>
            <a:ext cx="845820" cy="237744"/>
          </a:xfrm>
          <a:prstGeom prst="rect">
            <a:avLst/>
          </a:prstGeom>
          <a:solidFill>
            <a:srgbClr val="ECEFF1"/>
          </a:solidFill>
          <a:ln w="9525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455A64"/>
                </a:solidFill>
              </a:rPr>
              <a:t>OP_RETURN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93408"/>
            <a:ext cx="10972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07D8B"/>
                </a:solidFill>
              </a:rPr>
              <a:t>Trading Desk v2.0  |  Architecture Overview  |  Slide 11 of 11 — 09 Notifications &amp;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