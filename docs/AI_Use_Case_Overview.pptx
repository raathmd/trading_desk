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6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4B5F6"/>
                </a:solidFill>
              </a:rPr>
              <a:t>TRAMMO TRADING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AI Use Case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0CAF9"/>
                </a:solidFill>
              </a:rPr>
              <a:t>Decision Support Platform for Commodity Trading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How AI-augmented optimisation transforms real-time trading decisions across NH3 Domestic Barge, NH3 International, Sulphur, and Petcoke.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572000"/>
            <a:ext cx="1645920" cy="320040"/>
          </a:xfrm>
          <a:prstGeom prst="rect">
            <a:avLst/>
          </a:prstGeom>
          <a:solidFill>
            <a:srgbClr val="1A3A6B"/>
          </a:solidFill>
          <a:ln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64B5F6"/>
                </a:solidFill>
              </a:rPr>
              <a:t>NH3 Domestic Barge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4572000"/>
            <a:ext cx="1645920" cy="320040"/>
          </a:xfrm>
          <a:prstGeom prst="rect">
            <a:avLst/>
          </a:prstGeom>
          <a:solidFill>
            <a:srgbClr val="1A3A6B"/>
          </a:solidFill>
          <a:ln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64B5F6"/>
                </a:solidFill>
              </a:rPr>
              <a:t>NH3 International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4572000"/>
            <a:ext cx="1645920" cy="320040"/>
          </a:xfrm>
          <a:prstGeom prst="rect">
            <a:avLst/>
          </a:prstGeom>
          <a:solidFill>
            <a:srgbClr val="1A3A6B"/>
          </a:solidFill>
          <a:ln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64B5F6"/>
                </a:solidFill>
              </a:rPr>
              <a:t>Sulphur International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4572000"/>
            <a:ext cx="1645920" cy="320040"/>
          </a:xfrm>
          <a:prstGeom prst="rect">
            <a:avLst/>
          </a:prstGeom>
          <a:solidFill>
            <a:srgbClr val="1A3A6B"/>
          </a:solidFill>
          <a:ln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64B5F6"/>
                </a:solidFill>
              </a:rPr>
              <a:t>Petcoke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309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7D8B"/>
                </a:solidFill>
              </a:rPr>
              <a:t>Confidential — Internal Use Only  | 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2044"/>
                </a:solidFill>
              </a:rPr>
              <a:t>Agenda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463040"/>
            <a:ext cx="457200" cy="45720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44475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976D2"/>
                </a:solidFill>
              </a:rPr>
              <a:t>Problem Statement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81051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55A64"/>
                </a:solidFill>
              </a:rPr>
              <a:t>The challenges of manual commodity trading decisions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423160"/>
            <a:ext cx="457200" cy="45720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4048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976D2"/>
                </a:solidFill>
              </a:rPr>
              <a:t>Use-Case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7706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55A64"/>
                </a:solidFill>
              </a:rPr>
              <a:t>Set-the-Scene  ·  Architectural Overview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383280"/>
            <a:ext cx="457200" cy="45720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36499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976D2"/>
                </a:solidFill>
              </a:rPr>
              <a:t>Online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7307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55A64"/>
                </a:solidFill>
              </a:rPr>
              <a:t>Live walkthrough of the Trading Desk platform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343400"/>
            <a:ext cx="457200" cy="45720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32511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976D2"/>
                </a:solidFill>
              </a:rPr>
              <a:t>Questions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6908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55A64"/>
                </a:solidFill>
              </a:rPr>
              <a:t>Open discussion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5303520"/>
            <a:ext cx="457200" cy="45720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52852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976D2"/>
                </a:solidFill>
              </a:rPr>
              <a:t>Break-Out Session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56509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55A64"/>
                </a:solidFill>
              </a:rPr>
              <a:t>Discover product managers’ use-case scenarios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7D8B"/>
                </a:solidFill>
              </a:rPr>
              <a:t>Trammo  |  AI Use Case Overview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922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7D8B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4B5F6"/>
                </a:solidFill>
              </a:rP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Problem Statement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66160"/>
            <a:ext cx="9445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0CAF9"/>
                </a:solidFill>
              </a:rPr>
              <a:t>Why commodity traders need AI-augmented decision 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7D8B"/>
                </a:solidFill>
              </a:rPr>
              <a:t>Trammo  |  AI Use Case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922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7D8B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976D2"/>
                </a:solidFill>
              </a:rP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2044"/>
                </a:solidFill>
              </a:rPr>
              <a:t>Manual Trading Decisions Are Slow, Fragmented &amp; Risky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54480"/>
            <a:ext cx="54864" cy="9144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002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044"/>
                </a:solidFill>
              </a:rPr>
              <a:t>10+ Data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01952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55A64"/>
                </a:solidFill>
              </a:rPr>
              <a:t>River gauges, weather, locks, market prices, freight rates, terminal inventory, fleet, capital, vessels, tides — all checked manually.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606040"/>
            <a:ext cx="54864" cy="914400"/>
          </a:xfrm>
          <a:prstGeom prst="rect">
            <a:avLst/>
          </a:prstGeom>
          <a:solidFill>
            <a:srgbClr val="E6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517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044"/>
                </a:solidFill>
              </a:rPr>
              <a:t>20 Variables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953512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55A64"/>
                </a:solidFill>
              </a:rPr>
              <a:t>Traders mentally juggle 20 interdependent variables across environmental, operational, and commercial dimensions.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657600"/>
            <a:ext cx="54864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7033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044"/>
                </a:solidFill>
              </a:rPr>
              <a:t>Contract Complexity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005072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55A64"/>
                </a:solidFill>
              </a:rPr>
              <a:t>Active contracts impose price fixes, volume floors/caps, and penalty clauses that must be respected in every decision.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709160"/>
            <a:ext cx="54864" cy="9144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7548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044"/>
                </a:solidFill>
              </a:rPr>
              <a:t>Decision Latency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056632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55A64"/>
                </a:solidFill>
              </a:rPr>
              <a:t>Assembling the data picture, checking contracts, and running spreadsheet scenarios takes hours — by which time conditions have changed.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1554480"/>
            <a:ext cx="5486400" cy="4206240"/>
          </a:xfrm>
          <a:prstGeom prst="rect">
            <a:avLst/>
          </a:prstGeom>
          <a:solidFill>
            <a:srgbClr val="EBF5FB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737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976D2"/>
                </a:solidFill>
              </a:rPr>
              <a:t>THE SOLUTION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194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044"/>
                </a:solidFill>
              </a:rPr>
              <a:t>AI-Augmented Trading Desk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83464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5E20"/>
                </a:solidFill>
              </a:rPr>
              <a:t>✓  Continuously ingests all 10+ data sources automatically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10896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5E20"/>
                </a:solidFill>
              </a:rPr>
              <a:t>✓  Applies contract obligations via AI clause extraction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38328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5E20"/>
                </a:solidFill>
              </a:rPr>
              <a:t>✓  Runs LP optimisation to find profit-maximising allocation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65760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5E20"/>
                </a:solidFill>
              </a:rPr>
              <a:t>✓  Monte Carlo (1,000 scenarios) for risk-adjusted confidence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3192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5E20"/>
                </a:solidFill>
              </a:rPr>
              <a:t>✓  AI-generated analyst notes explain every recommendation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20624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5E20"/>
                </a:solidFill>
              </a:rPr>
              <a:t>✓  Auto-runner triggers re-optimisation on material changes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48056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5E20"/>
                </a:solidFill>
              </a:rPr>
              <a:t>✓  Decision latency reduced from hours to seconds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7D8B"/>
                </a:solidFill>
              </a:rPr>
              <a:t>Trammo  |  AI Use Case Overview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64922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7D8B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4B5F6"/>
                </a:solidFill>
              </a:rP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Use-Case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66160"/>
            <a:ext cx="9445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0CAF9"/>
                </a:solidFill>
              </a:rPr>
              <a:t>Set-the-Scene  ·  Architectural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7D8B"/>
                </a:solidFill>
              </a:rPr>
              <a:t>Trammo  |  AI Use Case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922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7D8B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976D2"/>
                </a:solidFill>
              </a:rPr>
              <a:t>SET THE SCENE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2044"/>
                </a:solidFill>
              </a:rPr>
              <a:t>NH3 Domestic Barge — A Typical Trading Morning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55A64"/>
                </a:solidFill>
              </a:rPr>
              <a:t>It’s 7:00 AM. Overnight, river stage at Baton Rouge dropped 2 ft, lock delays doubled to 12 hours, and NOLA ammonia prices jumped $8/ton. Two active contracts have take-or-pay obligations expiring this week. The trader needs to decide: which terminals to load, which routes to run, and how many barges to commit — right now.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169164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523744"/>
            <a:ext cx="1691640" cy="1188720"/>
          </a:xfrm>
          <a:prstGeom prst="rect">
            <a:avLst/>
          </a:prstGeom>
          <a:solidFill>
            <a:srgbClr val="FAFBFD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07D8B"/>
                </a:solidFill>
              </a:rPr>
              <a:t>River Stage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044"/>
                </a:solidFill>
              </a:rPr>
              <a:t>22.5 ft (↓ 2 ft)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07D8B"/>
                </a:solidFill>
              </a:rPr>
              <a:t>USGS Baton Rouge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14599" y="2468880"/>
            <a:ext cx="1691640" cy="54864"/>
          </a:xfrm>
          <a:prstGeom prst="rect">
            <a:avLst/>
          </a:prstGeom>
          <a:solidFill>
            <a:srgbClr val="E6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14599" y="2523744"/>
            <a:ext cx="1691640" cy="1188720"/>
          </a:xfrm>
          <a:prstGeom prst="rect">
            <a:avLst/>
          </a:prstGeom>
          <a:solidFill>
            <a:srgbClr val="FAFBFD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06039" y="260604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07D8B"/>
                </a:solidFill>
              </a:rPr>
              <a:t>Lock Delays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39" y="288036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044"/>
                </a:solidFill>
              </a:rPr>
              <a:t>12.0 hrs (↑ 6 hrs)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39" y="3291840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07D8B"/>
                </a:solidFill>
              </a:rPr>
              <a:t>USACE Lower Miss.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18" y="2468880"/>
            <a:ext cx="169164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18" y="2523744"/>
            <a:ext cx="1691640" cy="1188720"/>
          </a:xfrm>
          <a:prstGeom prst="rect">
            <a:avLst/>
          </a:prstGeom>
          <a:solidFill>
            <a:srgbClr val="FAFBFD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58" y="260604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07D8B"/>
                </a:solidFill>
              </a:rPr>
              <a:t>NOLA NH3 Price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8" y="288036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044"/>
                </a:solidFill>
              </a:rPr>
              <a:t>$348/t (↑ $8)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58" y="3291840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07D8B"/>
                </a:solidFill>
              </a:rPr>
              <a:t>Argus/ICIS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37" y="2468880"/>
            <a:ext cx="1691640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37" y="2523744"/>
            <a:ext cx="1691640" cy="1188720"/>
          </a:xfrm>
          <a:prstGeom prst="rect">
            <a:avLst/>
          </a:prstGeom>
          <a:solidFill>
            <a:srgbClr val="FAFBFD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77" y="260604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07D8B"/>
                </a:solidFill>
              </a:rPr>
              <a:t>Meredosia Inv.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77" y="288036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044"/>
                </a:solidFill>
              </a:rPr>
              <a:t>8,200 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77" y="3291840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07D8B"/>
                </a:solidFill>
              </a:rPr>
              <a:t>Insight TMS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56" y="2468880"/>
            <a:ext cx="1691640" cy="5486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56" y="2523744"/>
            <a:ext cx="1691640" cy="1188720"/>
          </a:xfrm>
          <a:prstGeom prst="rect">
            <a:avLst/>
          </a:prstGeom>
          <a:solidFill>
            <a:srgbClr val="FAFBFD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596" y="260604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07D8B"/>
                </a:solidFill>
              </a:rPr>
              <a:t>Available Barges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6" y="288036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044"/>
                </a:solidFill>
              </a:rPr>
              <a:t>14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596" y="3291840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07D8B"/>
                </a:solidFill>
              </a:rPr>
              <a:t>Fleet TMS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12675" y="2468880"/>
            <a:ext cx="1691640" cy="54864"/>
          </a:xfrm>
          <a:prstGeom prst="rect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12675" y="2523744"/>
            <a:ext cx="1691640" cy="1188720"/>
          </a:xfrm>
          <a:prstGeom prst="rect">
            <a:avLst/>
          </a:prstGeom>
          <a:solidFill>
            <a:srgbClr val="FAFBFD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04115" y="260604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07D8B"/>
                </a:solidFill>
              </a:rPr>
              <a:t>Working Capital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04115" y="288036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044"/>
                </a:solidFill>
              </a:rPr>
              <a:t>$3.2M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04115" y="3291840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07D8B"/>
                </a:solidFill>
              </a:rPr>
              <a:t>SAP S/4HANA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4114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976D2"/>
                </a:solidFill>
              </a:rPr>
              <a:t>WHAT THE PLATFORM DOES IN SECONDS:</a:t>
            </a:r>
          </a:p>
        </p:txBody>
      </p:sp>
      <p:sp>
        <p:nvSpPr>
          <p:cNvPr id="37" name="Oval 36"/>
          <p:cNvSpPr/>
          <p:nvPr/>
        </p:nvSpPr>
        <p:spPr>
          <a:xfrm>
            <a:off x="640080" y="4572000"/>
            <a:ext cx="320040" cy="32004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45079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2044"/>
                </a:solidFill>
              </a:rPr>
              <a:t>Detects material changes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47731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55A64"/>
                </a:solidFill>
              </a:rPr>
              <a:t>Auto-runner flags river + lock + price deltas</a:t>
            </a:r>
          </a:p>
        </p:txBody>
      </p:sp>
      <p:sp>
        <p:nvSpPr>
          <p:cNvPr id="40" name="Oval 39"/>
          <p:cNvSpPr/>
          <p:nvPr/>
        </p:nvSpPr>
        <p:spPr>
          <a:xfrm>
            <a:off x="3383280" y="4572000"/>
            <a:ext cx="320040" cy="32004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0" y="45079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2044"/>
                </a:solidFill>
              </a:rPr>
              <a:t>Reads active contracts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0" y="47731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55A64"/>
                </a:solidFill>
              </a:rPr>
              <a:t>AI extracts take-or-pay and penalty clauses</a:t>
            </a:r>
          </a:p>
        </p:txBody>
      </p:sp>
      <p:sp>
        <p:nvSpPr>
          <p:cNvPr id="43" name="Oval 42"/>
          <p:cNvSpPr/>
          <p:nvPr/>
        </p:nvSpPr>
        <p:spPr>
          <a:xfrm>
            <a:off x="6126480" y="4572000"/>
            <a:ext cx="320040" cy="32004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45079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2044"/>
                </a:solidFill>
              </a:rPr>
              <a:t>Runs Monte Carlo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47731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55A64"/>
                </a:solidFill>
              </a:rPr>
              <a:t>1,000 scenarios with current conditions</a:t>
            </a:r>
          </a:p>
        </p:txBody>
      </p:sp>
      <p:sp>
        <p:nvSpPr>
          <p:cNvPr id="46" name="Oval 45"/>
          <p:cNvSpPr/>
          <p:nvPr/>
        </p:nvSpPr>
        <p:spPr>
          <a:xfrm>
            <a:off x="8869680" y="4572000"/>
            <a:ext cx="320040" cy="32004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0" y="45079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2044"/>
                </a:solidFill>
              </a:rPr>
              <a:t>Delivers recommendation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0" y="47731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55A64"/>
                </a:solidFill>
              </a:rPr>
              <a:t>"Strong Go on Meredosia→StL at 2,100 MT"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7D8B"/>
                </a:solidFill>
              </a:rPr>
              <a:t>Trammo  |  AI Use Case Overview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64922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7D8B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976D2"/>
                </a:solidFill>
              </a:rPr>
              <a:t>ARCHITECTURAL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2044"/>
                </a:solidFill>
              </a:rPr>
              <a:t>System Overview</a:t>
            </a:r>
          </a:p>
        </p:txBody>
      </p:sp>
      <p:pic>
        <p:nvPicPr>
          <p:cNvPr id="5" name="Picture 4" descr="01_system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3511" y="1280160"/>
            <a:ext cx="2501929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7D8B"/>
                </a:solidFill>
              </a:rPr>
              <a:t>Trammo  |  AI Use Case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922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7D8B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976D2"/>
                </a:solidFill>
              </a:rPr>
              <a:t>ARCHITECTURAL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2044"/>
                </a:solidFill>
              </a:rPr>
              <a:t>10+ External Data Sources → 20 Solver Variables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71600"/>
            <a:ext cx="54864" cy="6400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</a:rPr>
              <a:t>Environmental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55A64"/>
                </a:solidFill>
              </a:rPr>
              <a:t>USGS River Gauges, NOAA Weather, USACE Lock Status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148840"/>
            <a:ext cx="54864" cy="640080"/>
          </a:xfrm>
          <a:prstGeom prst="rect">
            <a:avLst/>
          </a:prstGeom>
          <a:solidFill>
            <a:srgbClr val="E6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A817"/>
                </a:solidFill>
              </a:rPr>
              <a:t>Operational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423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55A64"/>
                </a:solidFill>
              </a:rPr>
              <a:t>Insight TMS, Fleet TMS, SAP S/4HANA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926080"/>
            <a:ext cx="54864" cy="6400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926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E44AD"/>
                </a:solidFill>
              </a:rPr>
              <a:t>Commercial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200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55A64"/>
                </a:solidFill>
              </a:rPr>
              <a:t>Argus/ICIS Markets, Broker Freight, EIA Nat Gas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703320"/>
            <a:ext cx="54864" cy="640080"/>
          </a:xfrm>
          <a:prstGeom prst="rect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033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07D8B"/>
                </a:solidFill>
              </a:rPr>
              <a:t>Supplementary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977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55A64"/>
                </a:solidFill>
              </a:rPr>
              <a:t>AIS Vessel Tracking, NOAA Tides &amp; Currents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976D2"/>
                </a:solidFill>
              </a:rPr>
              <a:t>20 SOLVER VARIABLES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1645920"/>
            <a:ext cx="5303520" cy="822960"/>
          </a:xfrm>
          <a:prstGeom prst="rect">
            <a:avLst/>
          </a:prstGeom>
          <a:solidFill>
            <a:srgbClr val="FAFBFD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16916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2044"/>
                </a:solidFill>
              </a:rPr>
              <a:t>Environment (6 vars)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19659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7D8B"/>
                </a:solidFill>
              </a:rPr>
              <a:t>river_stage, lock_hrs, temp_f, wind_mph, vis_mi, precip_in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2560320"/>
            <a:ext cx="5303520" cy="822960"/>
          </a:xfrm>
          <a:prstGeom prst="rect">
            <a:avLst/>
          </a:prstGeom>
          <a:solidFill>
            <a:srgbClr val="FAFBFD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26060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2044"/>
                </a:solidFill>
              </a:rPr>
              <a:t>Operations (5 vars)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880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7D8B"/>
                </a:solidFill>
              </a:rPr>
              <a:t>inv_mer, inv_nio, mer_outage, nio_outage, barge_count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3474720"/>
            <a:ext cx="5303520" cy="822960"/>
          </a:xfrm>
          <a:prstGeom prst="rect">
            <a:avLst/>
          </a:prstGeom>
          <a:solidFill>
            <a:srgbClr val="FAFBFD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35204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2044"/>
                </a:solidFill>
              </a:rPr>
              <a:t>Commercial (9 vars)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37947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7D8B"/>
                </a:solidFill>
              </a:rPr>
              <a:t>nola_buy, sell_stl, sell_mem, fr_mer_stl, fr_mer_mem, fr_nio_stl, fr_nio_mem, nat_gas, working_cap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976D2"/>
                </a:solidFill>
              </a:rPr>
              <a:t>Every solve packs all 20 variables into a compact 160-byte binary and sends it to the Zig/HiGHS solver engine.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7D8B"/>
                </a:solidFill>
              </a:rPr>
              <a:t>Trammo  |  AI Use Case Overview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64922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7D8B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976D2"/>
                </a:solidFill>
              </a:rPr>
              <a:t>ARCHITECTURAL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2044"/>
                </a:solidFill>
              </a:rPr>
              <a:t>Data Ingestion &amp; Live State</a:t>
            </a:r>
          </a:p>
        </p:txBody>
      </p:sp>
      <p:pic>
        <p:nvPicPr>
          <p:cNvPr id="5" name="Picture 4" descr="02_data_inges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389" y="1280160"/>
            <a:ext cx="9294173" cy="47548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7D8B"/>
                </a:solidFill>
              </a:rPr>
              <a:t>Trammo  |  AI Use Case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922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7D8B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976D2"/>
                </a:solidFill>
              </a:rPr>
              <a:t>ARCHITECTURAL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2044"/>
                </a:solidFill>
              </a:rPr>
              <a:t>The 4-Phase Solve Pipeline</a:t>
            </a:r>
          </a:p>
        </p:txBody>
      </p:sp>
      <p:pic>
        <p:nvPicPr>
          <p:cNvPr id="5" name="Picture 4" descr="03_solve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4622" y="1280160"/>
            <a:ext cx="1099707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7D8B"/>
                </a:solidFill>
              </a:rPr>
              <a:t>Trammo  |  AI Use Case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922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7D8B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976D2"/>
                </a:solidFill>
              </a:rPr>
              <a:t>ARCHITECTURAL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2044"/>
                </a:solidFill>
              </a:rPr>
              <a:t>Pre-Solve: LLM Contract Framing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55A64"/>
                </a:solidFill>
              </a:rPr>
              <a:t>AI reads active contracts and adjusts solver variables to respect price fixes, take-or-pay volumes, and penalty clauses.</a:t>
            </a:r>
          </a:p>
        </p:txBody>
      </p:sp>
      <p:pic>
        <p:nvPicPr>
          <p:cNvPr id="6" name="Picture 5" descr="04_presolve_ll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" y="1737360"/>
            <a:ext cx="10058400" cy="302011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7D8B"/>
                </a:solidFill>
              </a:rPr>
              <a:t>Trammo  |  AI Use Case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4922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7D8B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976D2"/>
                </a:solidFill>
              </a:rPr>
              <a:t>ARCHITECTURAL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2044"/>
                </a:solidFill>
              </a:rPr>
              <a:t>The Solver Engine — LP + Monte Carlo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55A64"/>
                </a:solidFill>
              </a:rPr>
              <a:t>High-performance Zig/HiGHS linear-programming solver. Single solve for optimal allocation; Monte Carlo (1,000 scenarios) for risk-adjusted confidence signals.</a:t>
            </a:r>
          </a:p>
        </p:txBody>
      </p:sp>
      <p:pic>
        <p:nvPicPr>
          <p:cNvPr id="6" name="Picture 5" descr="05_solver_eng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" y="1737360"/>
            <a:ext cx="10058400" cy="18211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7D8B"/>
                </a:solidFill>
              </a:rPr>
              <a:t>Trammo  |  AI Use Case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4922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7D8B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976D2"/>
                </a:solidFill>
              </a:rPr>
              <a:t>ARCHITECTURAL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2044"/>
                </a:solidFill>
              </a:rPr>
              <a:t>Post-Solve: AI Analyst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55A64"/>
                </a:solidFill>
              </a:rPr>
              <a:t>After the solver returns, AI writes a concise analyst note:</a:t>
            </a:r>
            <a:br/>
            <a:r>
              <a:t>“The solver favors Meredosia-to-StL at 2,100 MT, capturing a $40/t margin. Memphis allocation limited by barge availability (shadow price: $12.50/barge).”</a:t>
            </a:r>
          </a:p>
        </p:txBody>
      </p:sp>
      <p:pic>
        <p:nvPicPr>
          <p:cNvPr id="6" name="Picture 5" descr="06_postsolve_ll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" y="2011680"/>
            <a:ext cx="10058400" cy="106935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7D8B"/>
                </a:solidFill>
              </a:rPr>
              <a:t>Trammo  |  AI Use Case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4922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7D8B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976D2"/>
                </a:solidFill>
              </a:rPr>
              <a:t>ARCHITECTURAL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2044"/>
                </a:solidFill>
              </a:rPr>
              <a:t>Auto-Runner: Continuous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55A64"/>
                </a:solidFill>
              </a:rPr>
              <a:t>When live data changes materially, the auto-runner triggers Monte Carlo, notifies traders, and records the result on an immutable audit chain.</a:t>
            </a:r>
          </a:p>
        </p:txBody>
      </p:sp>
      <p:pic>
        <p:nvPicPr>
          <p:cNvPr id="6" name="Picture 5" descr="07_auto_ru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8099" y="1645920"/>
            <a:ext cx="1432754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7D8B"/>
                </a:solidFill>
              </a:rPr>
              <a:t>Trammo  |  AI Use Case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4922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7D8B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976D2"/>
                </a:solidFill>
              </a:rPr>
              <a:t>ARCHITECTURAL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2044"/>
                </a:solidFill>
              </a:rPr>
              <a:t>Contract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55A64"/>
                </a:solidFill>
              </a:rPr>
              <a:t>Upload → AI clause extraction → Legal review → SAP validation → Trading gate → Solver constraints.</a:t>
            </a:r>
          </a:p>
        </p:txBody>
      </p:sp>
      <p:pic>
        <p:nvPicPr>
          <p:cNvPr id="6" name="Picture 5" descr="08_contract_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" y="1737360"/>
            <a:ext cx="10058400" cy="164615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7D8B"/>
                </a:solidFill>
              </a:rPr>
              <a:t>Trammo  |  AI Use Case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4922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7D8B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976D2"/>
                </a:solidFill>
              </a:rPr>
              <a:t>ARCHITECTURAL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2044"/>
                </a:solidFill>
              </a:rPr>
              <a:t>Trader Decision Ledger</a:t>
            </a:r>
          </a:p>
        </p:txBody>
      </p:sp>
      <p:pic>
        <p:nvPicPr>
          <p:cNvPr id="5" name="Picture 4" descr="09_decision_led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8383" y="1280160"/>
            <a:ext cx="3212185" cy="47548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7D8B"/>
                </a:solidFill>
              </a:rPr>
              <a:t>Trammo  |  AI Use Case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922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7D8B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976D2"/>
                </a:solidFill>
              </a:rPr>
              <a:t>ARCHITECTURAL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2044"/>
                </a:solidFill>
              </a:rPr>
              <a:t>What-If Analysis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55A64"/>
                </a:solidFill>
              </a:rPr>
              <a:t>5-step wizard: Variables → Contracts → Natural-language prompt → AI framing → Solver results with explanation.</a:t>
            </a:r>
          </a:p>
        </p:txBody>
      </p:sp>
      <p:pic>
        <p:nvPicPr>
          <p:cNvPr id="6" name="Picture 5" descr="10_whatif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" y="1737360"/>
            <a:ext cx="10058400" cy="150580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7D8B"/>
                </a:solidFill>
              </a:rPr>
              <a:t>Trammo  |  AI Use Case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4922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7D8B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976D2"/>
                </a:solidFill>
              </a:rPr>
              <a:t>ARCHITECTURAL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2044"/>
                </a:solidFill>
              </a:rPr>
              <a:t>End-to-End: From Raw Data to Trading Decision</a:t>
            </a:r>
          </a:p>
        </p:txBody>
      </p:sp>
      <p:pic>
        <p:nvPicPr>
          <p:cNvPr id="5" name="Picture 4" descr="11_end_to_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851" y="1280160"/>
            <a:ext cx="3143250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7D8B"/>
                </a:solidFill>
              </a:rPr>
              <a:t>Trammo  |  AI Use Case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922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7D8B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4B5F6"/>
                </a:solidFill>
              </a:rP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Online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66160"/>
            <a:ext cx="9445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0CAF9"/>
                </a:solidFill>
              </a:rPr>
              <a:t>Live walkthrough of the Trading Desk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8531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6A817"/>
                </a:solidFill>
              </a:rPr>
              <a:t>http://localhost:4111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7D8B"/>
                </a:solidFill>
              </a:rPr>
              <a:t>Trammo  |  AI Use Case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4922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7D8B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976D2"/>
                </a:solidFill>
              </a:rPr>
              <a:t>DEMO — WHAT-IF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2044"/>
                </a:solidFill>
              </a:rPr>
              <a:t>Copy &amp; Paste Prompts for the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55A64"/>
                </a:solidFill>
              </a:rPr>
              <a:t>Enter these into the What-If prompt box to demonstrate AI-framed scenario analysis: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10698480" cy="749808"/>
          </a:xfrm>
          <a:prstGeom prst="rect">
            <a:avLst/>
          </a:prstGeom>
          <a:solidFill>
            <a:srgbClr val="FAFBFD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976D2"/>
                </a:solidFill>
              </a:rPr>
              <a:t>①  River Drop + Lock Surge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332"/>
                </a:solidFill>
              </a:rPr>
              <a:t>What if river stage drops to 7 feet and lock delays increase to 24 hours? Which contracts can still operate and what happens to the Koch demurrage exposure?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77440"/>
            <a:ext cx="10698480" cy="749808"/>
          </a:xfrm>
          <a:prstGeom prst="rect">
            <a:avLst/>
          </a:prstGeom>
          <a:solidFill>
            <a:srgbClr val="FAFBFD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976D2"/>
                </a:solidFill>
              </a:rPr>
              <a:t>②  NOLA Price Spike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517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332"/>
                </a:solidFill>
              </a:rPr>
              <a:t>What if NOLA ammonia prices jump to $380/MT? Does the CF Industries $365 cap still hold and can we meet the Mosaic $415 floor at St. Louis?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200400"/>
            <a:ext cx="10698480" cy="749808"/>
          </a:xfrm>
          <a:prstGeom prst="rect">
            <a:avLst/>
          </a:prstGeom>
          <a:solidFill>
            <a:srgbClr val="FAFBFD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2461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976D2"/>
                </a:solidFill>
              </a:rPr>
              <a:t>③  Barge Shortage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47472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332"/>
                </a:solidFill>
              </a:rPr>
              <a:t>What if we lose 3 barges and only have 2 available? Can we still meet the Simplot quarterly minimum of 6,750 MT across both destinations?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023360"/>
            <a:ext cx="10698480" cy="749808"/>
          </a:xfrm>
          <a:prstGeom prst="rect">
            <a:avLst/>
          </a:prstGeom>
          <a:solidFill>
            <a:srgbClr val="FAFBFD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0690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976D2"/>
                </a:solidFill>
              </a:rPr>
              <a:t>④  Terminal Outage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29768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332"/>
                </a:solidFill>
              </a:rPr>
              <a:t>What if Meredosia terminal goes into unplanned outage? How do we reroute the Mosaic St. Louis and Simplot deliveries from Geismar?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846320"/>
            <a:ext cx="10698480" cy="749808"/>
          </a:xfrm>
          <a:prstGeom prst="rect">
            <a:avLst/>
          </a:prstGeom>
          <a:solidFill>
            <a:srgbClr val="FAFBFD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8920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976D2"/>
                </a:solidFill>
              </a:rPr>
              <a:t>⑤  Working Capital Squeeze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12064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332"/>
                </a:solidFill>
              </a:rPr>
              <a:t>What if working capital drops to $2.5M? The CF Industries LC alone requires $4M — which contracts do we prioritize and what’s the profit impact?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669280"/>
            <a:ext cx="10698480" cy="749808"/>
          </a:xfrm>
          <a:prstGeom prst="rect">
            <a:avLst/>
          </a:prstGeom>
          <a:solidFill>
            <a:srgbClr val="FAFBFD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7150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976D2"/>
                </a:solidFill>
              </a:rPr>
              <a:t>⑥  Combined Stress 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9436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332"/>
                </a:solidFill>
              </a:rPr>
              <a:t>What if lock delays double to 24 hours, we lose 2 barges, and NOLA price rises to $360? Run a Monte Carlo — is this still a go across the portfolio?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7D8B"/>
                </a:solidFill>
              </a:rPr>
              <a:t>Trammo  |  AI Use Case Overview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64922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7D8B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4B5F6"/>
                </a:solidFill>
              </a:rP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66160"/>
            <a:ext cx="9445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0CAF9"/>
                </a:solidFill>
              </a:rPr>
              <a:t>Open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7D8B"/>
                </a:solidFill>
              </a:rPr>
              <a:t>Trammo  |  AI Use Case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922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7D8B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4B5F6"/>
                </a:solidFill>
              </a:rPr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Break-Out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108960"/>
            <a:ext cx="9445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0CAF9"/>
                </a:solidFill>
              </a:rPr>
              <a:t>Discover product managers’ use-case scenarios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114800"/>
            <a:ext cx="7616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CAF9"/>
                </a:solidFill>
              </a:rPr>
              <a:t>•  What trading decisions does your team make daily?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526280"/>
            <a:ext cx="7616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CAF9"/>
                </a:solidFill>
              </a:rPr>
              <a:t>•  Which data sources do you currently check manually?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937760"/>
            <a:ext cx="7616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CAF9"/>
                </a:solidFill>
              </a:rPr>
              <a:t>•  Where are the biggest bottlenecks in your workflow?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5349240"/>
            <a:ext cx="7616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CAF9"/>
                </a:solidFill>
              </a:rPr>
              <a:t>•  What would “real-time optimisation” look like for your product?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7D8B"/>
                </a:solidFill>
              </a:rPr>
              <a:t>Trammo  |  AI Use Case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4922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7D8B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