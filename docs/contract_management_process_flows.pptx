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Contract Management Process 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EC0"/>
                </a:solidFill>
              </a:defRPr>
            </a:pPr>
            <a:r>
              <a:t>Trammo Trading Desk — 7-Step Contract Wizard &amp; Solver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C8D"/>
                </a:solidFill>
              </a:defRPr>
            </a:pPr>
            <a:r>
              <a:t>February 2026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457200"/>
            <a:ext cx="457200" cy="457200"/>
          </a:xfrm>
          <a:prstGeom prst="ellipse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D3A"/>
                </a:solidFill>
              </a:defRPr>
            </a:pPr>
            <a:r>
              <a:t>Contract Management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C8D"/>
                </a:solidFill>
              </a:defRPr>
            </a:pPr>
            <a:r>
              <a:t>The Contract Management module is a guided 7-step wizard that takes traders from product group selection</a:t>
            </a:r>
            <a:br/>
            <a:r>
              <a:t>through counterparty identification, commercial negotiation, clause selection, LP solver validation,</a:t>
            </a:r>
            <a:br/>
            <a:r>
              <a:t>review, and final approval — all within a single real-time LiveView interface.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1508760" cy="146304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2423160"/>
            <a:ext cx="320040" cy="320040"/>
          </a:xfrm>
          <a:prstGeom prst="ellipse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</a:defRPr>
            </a:pPr>
            <a:r>
              <a:t>Product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43200"/>
            <a:ext cx="1234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C8D"/>
                </a:solidFill>
              </a:defRPr>
            </a:pPr>
            <a:r>
              <a:t>Select NH3 Domestic,</a:t>
            </a:r>
            <a:br/>
            <a:r>
              <a:t>Sulphur Intl, Petcoke,</a:t>
            </a:r>
            <a:br/>
            <a:r>
              <a:t>or NH3 International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30552" y="2286000"/>
            <a:ext cx="1508760" cy="146304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67712" y="2423160"/>
            <a:ext cx="320040" cy="320040"/>
          </a:xfrm>
          <a:prstGeom prst="ellipse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9192" y="23774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</a:defRPr>
            </a:pPr>
            <a:r>
              <a:t>Counterparty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67712" y="2743200"/>
            <a:ext cx="1234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C8D"/>
                </a:solidFill>
              </a:defRPr>
            </a:pPr>
            <a:r>
              <a:t>Name, commodity,</a:t>
            </a:r>
            <a:br/>
            <a:r>
              <a:t>delivery window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03904" y="2286000"/>
            <a:ext cx="1508760" cy="146304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41064" y="2423160"/>
            <a:ext cx="320040" cy="320040"/>
          </a:xfrm>
          <a:prstGeom prst="ellipse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2544" y="23774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</a:defRPr>
            </a:pPr>
            <a:r>
              <a:t>Commercial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41064" y="2743200"/>
            <a:ext cx="1234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C8D"/>
                </a:solidFill>
              </a:defRPr>
            </a:pPr>
            <a:r>
              <a:t>Quantity, price,</a:t>
            </a:r>
            <a:br/>
            <a:r>
              <a:t>freight, payment,</a:t>
            </a:r>
            <a:br/>
            <a:r>
              <a:t>incoterm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77256" y="2286000"/>
            <a:ext cx="1508760" cy="146304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14416" y="2423160"/>
            <a:ext cx="320040" cy="320040"/>
          </a:xfrm>
          <a:prstGeom prst="ellipse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25896" y="23774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</a:defRPr>
            </a:pPr>
            <a:r>
              <a:t>Clauses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14416" y="2743200"/>
            <a:ext cx="1234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C8D"/>
                </a:solidFill>
              </a:defRPr>
            </a:pPr>
            <a:r>
              <a:t>Select applicable</a:t>
            </a:r>
            <a:br/>
            <a:r>
              <a:t>contract clauses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50608" y="2286000"/>
            <a:ext cx="1508760" cy="146304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87768" y="2423160"/>
            <a:ext cx="320040" cy="32004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3774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</a:defRPr>
            </a:pPr>
            <a:r>
              <a:t>Optimizer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87768" y="2743200"/>
            <a:ext cx="1234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C8D"/>
                </a:solidFill>
              </a:defRPr>
            </a:pPr>
            <a:r>
              <a:t>HiGHS LP Solver</a:t>
            </a:r>
            <a:br/>
            <a:r>
              <a:t>+ Claude AI analysis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23960" y="2286000"/>
            <a:ext cx="1508760" cy="146304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61120" y="2423160"/>
            <a:ext cx="320040" cy="320040"/>
          </a:xfrm>
          <a:prstGeom prst="ellipse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23774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</a:defRPr>
            </a:pPr>
            <a:r>
              <a:t>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2743200"/>
            <a:ext cx="1234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C8D"/>
                </a:solidFill>
              </a:defRPr>
            </a:pPr>
            <a:r>
              <a:t>Full summary of</a:t>
            </a:r>
            <a:br/>
            <a:r>
              <a:t>all entered data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497312" y="2286000"/>
            <a:ext cx="1508760" cy="146304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634472" y="2423160"/>
            <a:ext cx="320040" cy="32004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45952" y="23774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</a:defRPr>
            </a:pPr>
            <a:r>
              <a:t>Approval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34472" y="2743200"/>
            <a:ext cx="1234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C8D"/>
                </a:solidFill>
              </a:defRPr>
            </a:pPr>
            <a:r>
              <a:t>Submit &amp; create</a:t>
            </a:r>
            <a:br/>
            <a:r>
              <a:t>DB records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114800"/>
            <a:ext cx="10515600" cy="1097280"/>
          </a:xfrm>
          <a:prstGeom prst="roundRect">
            <a:avLst/>
          </a:prstGeom>
          <a:solidFill>
            <a:srgbClr val="EAFAF1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20624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KEY DIFFERENTIATOR: Unlike traditional contract management systems, Trammo integrates a linear-programming</a:t>
            </a:r>
            <a:br/>
            <a:r>
              <a:t>solver directly into Step 5 — giving traders quantitative validation of contract economics</a:t>
            </a:r>
            <a:br/>
            <a:r>
              <a:t>BEFORE approval, not after. Claude AI then explains the results in natural language.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C8D"/>
                </a:solidFill>
              </a:defRPr>
            </a:pPr>
            <a:r>
              <a:t>Trammo Trading Desk  •  Contract Management Process Flows  •  February 2026  •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457200"/>
            <a:ext cx="457200" cy="457200"/>
          </a:xfrm>
          <a:prstGeom prst="ellipse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D3A"/>
                </a:solidFill>
              </a:defRPr>
            </a:pPr>
            <a:r>
              <a:t>End-to-End Contract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C8D"/>
                </a:solidFill>
              </a:defRPr>
            </a:pPr>
            <a:r>
              <a:t>From the moment a trader starts a new contract to the point it becomes an active constraint in the solver.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137160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574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E86DE"/>
                </a:solidFill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B1D3A"/>
                </a:solidFill>
              </a:defRPr>
            </a:pPr>
            <a:r>
              <a:t>Product Group</a:t>
            </a:r>
            <a:br/>
            <a:r>
              <a:t>Selection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2011680"/>
            <a:ext cx="137160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20574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E86DE"/>
                </a:solidFill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28600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B1D3A"/>
                </a:solidFill>
              </a:defRPr>
            </a:pPr>
            <a:r>
              <a:t>Counterparty &amp;</a:t>
            </a:r>
            <a:br/>
            <a:r>
              <a:t>Commodity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011680"/>
            <a:ext cx="137160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0574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E86DE"/>
                </a:solidFill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28600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B1D3A"/>
                </a:solidFill>
              </a:defRPr>
            </a:pPr>
            <a:r>
              <a:t>Commercial</a:t>
            </a:r>
            <a:br/>
            <a:r>
              <a:t>Terms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2011680"/>
            <a:ext cx="137160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20574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E86DE"/>
                </a:solidFill>
              </a:defRPr>
            </a:pPr>
            <a:r>
              <a:t>Step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28600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B1D3A"/>
                </a:solidFill>
              </a:defRPr>
            </a:pPr>
            <a:r>
              <a:t>Clause</a:t>
            </a:r>
            <a:br/>
            <a:r>
              <a:t>Selection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2011680"/>
            <a:ext cx="137160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20574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</a:defRPr>
            </a:pPr>
            <a:r>
              <a:t>Step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28600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B1D3A"/>
                </a:solidFill>
              </a:defRPr>
            </a:pPr>
            <a:r>
              <a:t>Optimizer</a:t>
            </a:r>
            <a:br/>
            <a:r>
              <a:t>Validation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2011680"/>
            <a:ext cx="137160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20574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E86DE"/>
                </a:solidFill>
              </a:defRPr>
            </a:pPr>
            <a:r>
              <a:t>Step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28600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B1D3A"/>
                </a:solidFill>
              </a:defRPr>
            </a:pPr>
            <a:r>
              <a:t>Review</a:t>
            </a:r>
            <a:br/>
            <a:r>
              <a:t>Summary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84080" y="2011680"/>
            <a:ext cx="137160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29800" y="20574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</a:defRPr>
            </a:pPr>
            <a:r>
              <a:t>Step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228600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B1D3A"/>
                </a:solidFill>
              </a:defRPr>
            </a:pPr>
            <a:r>
              <a:t>Approval</a:t>
            </a:r>
            <a:br/>
            <a:r>
              <a:t>Submission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71600" y="3657600"/>
            <a:ext cx="18288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63040" y="37307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DE"/>
                </a:solidFill>
              </a:defRPr>
            </a:pPr>
            <a:r>
              <a:t>DB Transaction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1605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C8D"/>
                </a:solidFill>
              </a:defRPr>
            </a:pPr>
            <a:r>
              <a:t>Negotiation +</a:t>
            </a:r>
            <a:br/>
            <a:r>
              <a:t>Contract + Version</a:t>
            </a:r>
            <a:br/>
            <a:r>
              <a:t>+ Approval records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0" y="3657600"/>
            <a:ext cx="18288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0" y="37307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39C12"/>
                </a:solidFill>
              </a:defRPr>
            </a:pPr>
            <a:r>
              <a:t>Pending</a:t>
            </a:r>
            <a:br/>
            <a:r>
              <a:t>Approval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40" y="41605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C8D"/>
                </a:solidFill>
              </a:defRPr>
            </a:pPr>
            <a:r>
              <a:t>Trading Manager</a:t>
            </a:r>
            <a:br/>
            <a:r>
              <a:t>reviews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0" y="3657600"/>
            <a:ext cx="18288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0" y="37307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</a:defRPr>
            </a:pPr>
            <a:r>
              <a:t>Active</a:t>
            </a:r>
            <a:br/>
            <a:r>
              <a:t>Contract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41605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C8D"/>
                </a:solidFill>
              </a:defRPr>
            </a:pPr>
            <a:r>
              <a:t>Approved &amp;</a:t>
            </a:r>
            <a:br/>
            <a:r>
              <a:t>operational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0" y="3657600"/>
            <a:ext cx="18288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37307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E44AD"/>
                </a:solidFill>
              </a:defRPr>
            </a:pPr>
            <a:r>
              <a:t>Solver</a:t>
            </a:r>
            <a:br/>
            <a:r>
              <a:t>Constraint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1605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C8D"/>
                </a:solidFill>
              </a:defRPr>
            </a:pPr>
            <a:r>
              <a:t>Contract becomes</a:t>
            </a:r>
            <a:br/>
            <a:r>
              <a:t>live constraint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212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Every step transition emits an event to the EventEmitter pipeline → vectorized → stored in pgvector for semantic search.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C8D"/>
                </a:solidFill>
              </a:defRPr>
            </a:pPr>
            <a:r>
              <a:t>Trammo Trading Desk  •  Contract Management Process Flows  •  February 2026  •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457200"/>
            <a:ext cx="457200" cy="457200"/>
          </a:xfrm>
          <a:prstGeom prst="ellipse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D3A"/>
                </a:solidFill>
              </a:defRPr>
            </a:pPr>
            <a:r>
              <a:t>Steps 1-3: Product, Counterparty, Commercial Terms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474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D3A"/>
                </a:solidFill>
              </a:defRPr>
            </a:pPr>
            <a:r>
              <a:t>Step 1: Product Group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Four product groups available:</a:t>
            </a:r>
            <a:br/>
            <a:br/>
            <a:r>
              <a:t>• NH3 Domestic Barge (AD)</a:t>
            </a:r>
            <a:br/>
            <a:r>
              <a:t>  Anhydrous Ammonia, Aqua Ammonia</a:t>
            </a:r>
            <a:br/>
            <a:br/>
            <a:r>
              <a:t>• Sulphur International (SI)</a:t>
            </a:r>
            <a:br/>
            <a:r>
              <a:t>  Granular, Liquid, Formed</a:t>
            </a:r>
            <a:br/>
            <a:br/>
            <a:r>
              <a:t>• Petcoke (PC)</a:t>
            </a:r>
            <a:br/>
            <a:r>
              <a:t>  Fuel-Grade, Anode-Grade, Calcined</a:t>
            </a:r>
            <a:br/>
            <a:br/>
            <a:r>
              <a:t>• NH3 International (AI)</a:t>
            </a:r>
            <a:br/>
            <a:r>
              <a:t>  Anhydrous Ammonia, Ammonia Solution</a:t>
            </a:r>
            <a:br/>
            <a:br/>
            <a:r>
              <a:t>Validation: Must select one to proceed.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371600"/>
            <a:ext cx="3474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D3A"/>
                </a:solidFill>
              </a:defRPr>
            </a:pPr>
            <a:r>
              <a:t>Step 2: Counterparty &amp; Commodity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9202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Fields collected:</a:t>
            </a:r>
            <a:br/>
            <a:br/>
            <a:r>
              <a:t>• Counterparty Name (required)</a:t>
            </a:r>
            <a:br/>
            <a:r>
              <a:t>  e.g. ACME Trading Corp</a:t>
            </a:r>
            <a:br/>
            <a:br/>
            <a:r>
              <a:t>• Commodity (required)</a:t>
            </a:r>
            <a:br/>
            <a:r>
              <a:t>  Filtered by product group</a:t>
            </a:r>
            <a:br/>
            <a:br/>
            <a:r>
              <a:t>• Delivery Window Start (required)</a:t>
            </a:r>
            <a:br/>
            <a:r>
              <a:t>  Date picker</a:t>
            </a:r>
            <a:br/>
            <a:br/>
            <a:r>
              <a:t>• Delivery Window End (required)</a:t>
            </a:r>
            <a:br/>
            <a:r>
              <a:t>  Date picker</a:t>
            </a:r>
            <a:br/>
            <a:br/>
            <a:r>
              <a:t>Validation: All four fields required.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371600"/>
            <a:ext cx="3749039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4630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D3A"/>
                </a:solidFill>
              </a:defRPr>
            </a:pPr>
            <a:r>
              <a:t>Step 3: Commercial Terms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92024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Fields collected:</a:t>
            </a:r>
            <a:br/>
            <a:br/>
            <a:r>
              <a:t>• Quantity + Unit (MT/KT/BBL) — required</a:t>
            </a:r>
            <a:br/>
            <a:br/>
            <a:r>
              <a:t>• Proposed Price (USD) — required</a:t>
            </a:r>
            <a:br/>
            <a:r>
              <a:t>  → Maps to solver var: nh3_price</a:t>
            </a:r>
            <a:br/>
            <a:br/>
            <a:r>
              <a:t>• Proposed Freight (USD/MT) — optional</a:t>
            </a:r>
            <a:br/>
            <a:r>
              <a:t>  → Maps to solver var: barge_freight</a:t>
            </a:r>
            <a:br/>
            <a:br/>
            <a:r>
              <a:t>• Payment Terms — default: Net 30</a:t>
            </a:r>
            <a:br/>
            <a:r>
              <a:t>  Options: Net 30/45/60, LC, Prepay</a:t>
            </a:r>
            <a:br/>
            <a:br/>
            <a:r>
              <a:t>• Incoterm — default: FOB</a:t>
            </a:r>
            <a:br/>
            <a:r>
              <a:t>  Options: FOB, CFR, CIF, DAP, etc.</a:t>
            </a:r>
            <a:br/>
            <a:br/>
            <a:r>
              <a:t>Solver integration: Price &amp; freight override</a:t>
            </a:r>
            <a:br/>
            <a:r>
              <a:t>product group defaults in Step 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C8D"/>
                </a:solidFill>
              </a:defRPr>
            </a:pPr>
            <a:r>
              <a:t>Trammo Trading Desk  •  Contract Management Process Flows  •  February 2026  • 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457200"/>
            <a:ext cx="457200" cy="457200"/>
          </a:xfrm>
          <a:prstGeom prst="ellipse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D3A"/>
                </a:solidFill>
              </a:defRPr>
            </a:pPr>
            <a:r>
              <a:t>Steps 4-5: Clause Selection &amp; Optimizer 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0292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D3A"/>
                </a:solidFill>
              </a:defRPr>
            </a:pPr>
            <a:r>
              <a:t>Step 4: Clause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10 standard clauses — toggle on/off:</a:t>
            </a:r>
            <a:br/>
            <a:br/>
            <a:r>
              <a:t>  ✓ Force Majeure (pre-selected)</a:t>
            </a:r>
            <a:br/>
            <a:r>
              <a:t>  • Demurrage &amp; Dispatch</a:t>
            </a:r>
            <a:br/>
            <a:r>
              <a:t>  • Quality Specification</a:t>
            </a:r>
            <a:br/>
            <a:r>
              <a:t>  • Quantity Tolerance (±5%)</a:t>
            </a:r>
            <a:br/>
            <a:r>
              <a:t>  • Price Escalation (index-linked)</a:t>
            </a:r>
            <a:br/>
            <a:r>
              <a:t>  ✓ Payment Terms (pre-selected)</a:t>
            </a:r>
            <a:br/>
            <a:r>
              <a:t>  • Insurance &amp; Liability</a:t>
            </a:r>
            <a:br/>
            <a:r>
              <a:t>  • Dispute Resolution (LCIA/ICC)</a:t>
            </a:r>
            <a:br/>
            <a:r>
              <a:t>  • Termination Rights</a:t>
            </a:r>
            <a:br/>
            <a:r>
              <a:t>  • Confidentiality</a:t>
            </a:r>
            <a:br/>
            <a:br/>
            <a:r>
              <a:t>Validation: At least 1 clause must be selected.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371600"/>
            <a:ext cx="5943600" cy="4114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14630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</a:defRPr>
            </a:pPr>
            <a:r>
              <a:t>Step 5: Optimizer Validation (Key Differentiator)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920240"/>
            <a:ext cx="5577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The trader clicks 'Run Optimizer Validation':</a:t>
            </a:r>
            <a:br/>
            <a:br/>
            <a:r>
              <a:t>1. Load product group default variables (20 vars)</a:t>
            </a:r>
            <a:br/>
            <a:r>
              <a:t>2. Apply contract overrides:</a:t>
            </a:r>
            <a:br/>
            <a:r>
              <a:t>   proposed_price → nh3_price</a:t>
            </a:r>
            <a:br/>
            <a:r>
              <a:t>   proposed_freight → barge_freight</a:t>
            </a:r>
            <a:br/>
            <a:r>
              <a:t>3. Solver.solve(product_group, vars)</a:t>
            </a:r>
            <a:br/>
            <a:r>
              <a:t>   Zig/HiGHS linear program execution</a:t>
            </a:r>
            <a:br/>
            <a:r>
              <a:t>4. Display results in 4-card grid:</a:t>
            </a:r>
            <a:br/>
            <a:r>
              <a:t>   Status | Profit | Tons | ROI</a:t>
            </a:r>
            <a:br/>
            <a:r>
              <a:t>5. Show route allocations (Route 1, 2, ...)</a:t>
            </a:r>
            <a:br/>
            <a:r>
              <a:t>6. PostsolveExplainer.explain_all()</a:t>
            </a:r>
            <a:br/>
            <a:r>
              <a:t>   Claude AI generates 3-5 sentence explanation</a:t>
            </a:r>
            <a:br/>
            <a:br/>
            <a:r>
              <a:t>Outcomes:</a:t>
            </a:r>
            <a:br/>
            <a:r>
              <a:t>  • OPTIMAL — terms are economically viable</a:t>
            </a:r>
            <a:br/>
            <a:r>
              <a:t>  • INFEASIBLE — terms may need adjustment</a:t>
            </a:r>
            <a:br/>
            <a:r>
              <a:t>  • UNAVAILABLE — manual validation permitted</a:t>
            </a:r>
            <a:br/>
            <a:br/>
            <a:r>
              <a:t>The solver step is recommended but NOT required.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C8D"/>
                </a:solidFill>
              </a:defRPr>
            </a:pPr>
            <a:r>
              <a:t>Trammo Trading Desk  •  Contract Management Process Flows  •  February 2026  • 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457200"/>
            <a:ext cx="457200" cy="457200"/>
          </a:xfrm>
          <a:prstGeom prst="ellipse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D3A"/>
                </a:solidFill>
              </a:defRPr>
            </a:pPr>
            <a:r>
              <a:t>Steps 6-7: Review &amp; Approval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0292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D3A"/>
                </a:solidFill>
              </a:defRPr>
            </a:pPr>
            <a:r>
              <a:t>Step 6: Review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663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Consolidated view of all data:</a:t>
            </a:r>
            <a:br/>
            <a:br/>
            <a:r>
              <a:t>• Product Group label</a:t>
            </a:r>
            <a:br/>
            <a:r>
              <a:t>• Counterparty &amp; Commodity</a:t>
            </a:r>
            <a:br/>
            <a:r>
              <a:t>• Delivery window dates</a:t>
            </a:r>
            <a:br/>
            <a:r>
              <a:t>• Quantity + unit, Price, Freight</a:t>
            </a:r>
            <a:br/>
            <a:r>
              <a:t>• Payment terms, Incoterm</a:t>
            </a:r>
            <a:br/>
            <a:r>
              <a:t>• Selected clauses (as tags)</a:t>
            </a:r>
            <a:br/>
            <a:r>
              <a:t>• Optimizer status, profit, ROI (if run)</a:t>
            </a:r>
            <a:br/>
            <a:br/>
            <a:r>
              <a:t>No edits here — trader navigates back</a:t>
            </a:r>
            <a:br/>
            <a:r>
              <a:t>to modify any step. Always valid to proceed.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371600"/>
            <a:ext cx="5943600" cy="3657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14630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</a:defRPr>
            </a:pPr>
            <a:r>
              <a:t>Step 7: Approval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920240"/>
            <a:ext cx="5577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Single Repo.transaction creates 5 records:</a:t>
            </a:r>
            <a:br/>
            <a:br/>
            <a:r>
              <a:t>1. CmContractNegotiation</a:t>
            </a:r>
            <a:br/>
            <a:r>
              <a:t>   Full step_data, solver snapshot, trader ID</a:t>
            </a:r>
            <a:br/>
            <a:br/>
            <a:r>
              <a:t>2. CmContractNegotiationEvent</a:t>
            </a:r>
            <a:br/>
            <a:r>
              <a:t>   type: submitted_for_approval</a:t>
            </a:r>
            <a:br/>
            <a:br/>
            <a:r>
              <a:t>3. CmContract</a:t>
            </a:r>
            <a:br/>
            <a:r>
              <a:t>   ref: CTR-{PREFIX}-{YYMMDDHHMM}-{hex}</a:t>
            </a:r>
            <a:br/>
            <a:r>
              <a:t>   status: pending_approval</a:t>
            </a:r>
            <a:br/>
            <a:br/>
            <a:r>
              <a:t>4. CmContractVersion (v1)</a:t>
            </a:r>
            <a:br/>
            <a:r>
              <a:t>   Full terms snapshot</a:t>
            </a:r>
            <a:br/>
            <a:br/>
            <a:r>
              <a:t>5. CmContractApproval</a:t>
            </a:r>
            <a:br/>
            <a:r>
              <a:t>   approver: trading_manager, status: pending</a:t>
            </a:r>
            <a:br/>
            <a:br/>
            <a:r>
              <a:t>Emits: contract_submitted_for_approval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C8D"/>
                </a:solidFill>
              </a:defRPr>
            </a:pPr>
            <a:r>
              <a:t>Trammo Trading Desk  •  Contract Management Process Flows  •  February 2026  • 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457200"/>
            <a:ext cx="457200" cy="457200"/>
          </a:xfrm>
          <a:prstGeom prst="ellipse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D3A"/>
                </a:solidFill>
              </a:defRPr>
            </a:pPr>
            <a:r>
              <a:t>Event Pipeline &amp; Vectorization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C8D"/>
                </a:solidFill>
              </a:defRPr>
            </a:pPr>
            <a:r>
              <a:t>Every step transition emits events through the EventEmitter → Oban → pgvector pipeline, enabling semantic search over contract history.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11247120" cy="365760"/>
          </a:xfrm>
          <a:prstGeom prst="roundRect">
            <a:avLst/>
          </a:prstGeom>
          <a:solidFill>
            <a:srgbClr val="0B1D3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391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Trigger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0391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Event 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03911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Key Payload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68880"/>
            <a:ext cx="11247120" cy="347472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87168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</a:defRPr>
            </a:pPr>
            <a:r>
              <a:t>Step 1→2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487168"/>
            <a:ext cx="4572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86DE"/>
                </a:solidFill>
              </a:defRPr>
            </a:pPr>
            <a:r>
              <a:t>contract_product_group_selected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487168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C8D"/>
                </a:solidFill>
              </a:defRPr>
            </a:pPr>
            <a:r>
              <a:t>product_group, user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52928"/>
            <a:ext cx="112471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71216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</a:defRPr>
            </a:pPr>
            <a:r>
              <a:t>Step 2→3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871216"/>
            <a:ext cx="4572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86DE"/>
                </a:solidFill>
              </a:defRPr>
            </a:pPr>
            <a:r>
              <a:t>contract_counterparty_set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871216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C8D"/>
                </a:solidFill>
              </a:defRPr>
            </a:pPr>
            <a:r>
              <a:t>counterparty, commodity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36976"/>
            <a:ext cx="11247120" cy="347472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55264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</a:defRPr>
            </a:pPr>
            <a:r>
              <a:t>Step 3→4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3255264"/>
            <a:ext cx="4572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86DE"/>
                </a:solidFill>
              </a:defRPr>
            </a:pPr>
            <a:r>
              <a:t>contract_commercial_terms_set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255264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C8D"/>
                </a:solidFill>
              </a:defRPr>
            </a:pPr>
            <a:r>
              <a:t>quantity, price, freight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21024"/>
            <a:ext cx="112471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639312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</a:defRPr>
            </a:pPr>
            <a:r>
              <a:t>Step 4→5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3639312"/>
            <a:ext cx="4572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86DE"/>
                </a:solidFill>
              </a:defRPr>
            </a:pPr>
            <a:r>
              <a:t>contract_clauses_selected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639312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C8D"/>
                </a:solidFill>
              </a:defRPr>
            </a:pPr>
            <a:r>
              <a:t>selected clause count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005072"/>
            <a:ext cx="11247120" cy="347472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023360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</a:defRPr>
            </a:pPr>
            <a:r>
              <a:t>Step 5→6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4023360"/>
            <a:ext cx="4572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86DE"/>
                </a:solidFill>
              </a:defRPr>
            </a:pPr>
            <a:r>
              <a:t>contract_optimizer_complete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023360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C8D"/>
                </a:solidFill>
              </a:defRPr>
            </a:pPr>
            <a:r>
              <a:t>solver status, profit, ROI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389120"/>
            <a:ext cx="112471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407408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</a:defRPr>
            </a:pPr>
            <a:r>
              <a:t>Step 6→7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4407408"/>
            <a:ext cx="4572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86DE"/>
                </a:solidFill>
              </a:defRPr>
            </a:pPr>
            <a:r>
              <a:t>contract_review_complete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4407408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C8D"/>
                </a:solidFill>
              </a:defRPr>
            </a:pPr>
            <a:r>
              <a:t>review confirmation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773168"/>
            <a:ext cx="11247120" cy="347472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791456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</a:defRPr>
            </a:pPr>
            <a:r>
              <a:t>Optimizer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20" y="4791456"/>
            <a:ext cx="4572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86DE"/>
                </a:solidFill>
              </a:defRPr>
            </a:pPr>
            <a:r>
              <a:t>contract_optimizer_validated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4791456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C8D"/>
                </a:solidFill>
              </a:defRPr>
            </a:pPr>
            <a:r>
              <a:t>full solver results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157216"/>
            <a:ext cx="112471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175504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</a:defRPr>
            </a:pPr>
            <a:r>
              <a:t>Submit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3120" y="5175504"/>
            <a:ext cx="4572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86DE"/>
                </a:solidFill>
              </a:defRPr>
            </a:pPr>
            <a:r>
              <a:t>contract_submitted_for_approval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5175504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C8D"/>
                </a:solidFill>
              </a:defRPr>
            </a:pPr>
            <a:r>
              <a:t>negotiation_id, contract_id, all terms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486400"/>
            <a:ext cx="1645920" cy="457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555955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E86DE"/>
                </a:solidFill>
              </a:defRPr>
            </a:pPr>
            <a:r>
              <a:t>Contract Wizard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377440" y="5486400"/>
            <a:ext cx="1645920" cy="457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23160" y="555955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6A817"/>
                </a:solidFill>
              </a:defRPr>
            </a:pPr>
            <a:r>
              <a:t>EventEmitter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97680" y="5486400"/>
            <a:ext cx="1645920" cy="457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43400" y="555955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39C12"/>
                </a:solidFill>
              </a:defRPr>
            </a:pPr>
            <a:r>
              <a:t>Oban Worker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17920" y="5486400"/>
            <a:ext cx="1645920" cy="457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63640" y="555955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E44AD"/>
                </a:solidFill>
              </a:defRPr>
            </a:pPr>
            <a:r>
              <a:t>Embeddings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38160" y="5486400"/>
            <a:ext cx="1645920" cy="457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83880" y="555955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E44AD"/>
                </a:solidFill>
              </a:defRPr>
            </a:pPr>
            <a:r>
              <a:t>pgvector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058400" y="5486400"/>
            <a:ext cx="1645920" cy="457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04120" y="555955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7AE60"/>
                </a:solidFill>
              </a:defRPr>
            </a:pPr>
            <a:r>
              <a:t>Semantic Search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C8D"/>
                </a:solidFill>
              </a:defRPr>
            </a:pPr>
            <a:r>
              <a:t>Trammo Trading Desk  •  Contract Management Process Flows  •  February 2026  • 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457200"/>
            <a:ext cx="457200" cy="457200"/>
          </a:xfrm>
          <a:prstGeom prst="ellipse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D3A"/>
                </a:solidFill>
              </a:defRPr>
            </a:pPr>
            <a:r>
              <a:t>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C8D"/>
                </a:solidFill>
              </a:defRPr>
            </a:pPr>
            <a:r>
              <a:t>Five interconnected tables created in a single transaction at approval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4747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920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DE"/>
                </a:solidFill>
              </a:defRPr>
            </a:pPr>
            <a:r>
              <a:t>cm_contract_negotiations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4028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</a:defRPr>
            </a:pPr>
            <a:r>
              <a:t>product_group, reference_number,</a:t>
            </a:r>
            <a:br/>
            <a:r>
              <a:t>counterparty, commodity, status,</a:t>
            </a:r>
            <a:br/>
            <a:r>
              <a:t>current_step, step_data, quantity,</a:t>
            </a:r>
            <a:br/>
            <a:r>
              <a:t>delivery_window, proposed_price,</a:t>
            </a:r>
            <a:br/>
            <a:r>
              <a:t>solver_snapshot, trader_id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4747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920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39C12"/>
                </a:solidFill>
              </a:defRPr>
            </a:pPr>
            <a:r>
              <a:t>cm_contract_negotiation_events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24028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</a:defRPr>
            </a:pPr>
            <a:r>
              <a:t>event_type, step_number,</a:t>
            </a:r>
            <a:br/>
            <a:r>
              <a:t>actor, summary, details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40480"/>
            <a:ext cx="34747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931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DE"/>
                </a:solidFill>
              </a:defRPr>
            </a:pPr>
            <a:r>
              <a:t>cm_contracts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519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</a:defRPr>
            </a:pPr>
            <a:r>
              <a:t>contract_reference, counterparty,</a:t>
            </a:r>
            <a:br/>
            <a:r>
              <a:t>commodity, status, current_version,</a:t>
            </a:r>
            <a:br/>
            <a:r>
              <a:t>terms, selected_clause_ids,</a:t>
            </a:r>
            <a:br/>
            <a:r>
              <a:t>requires_approval_from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840480"/>
            <a:ext cx="34747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3931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</a:defRPr>
            </a:pPr>
            <a:r>
              <a:t>cm_contract_versions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42519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</a:defRPr>
            </a:pPr>
            <a:r>
              <a:t>version_number, terms_snapshot,</a:t>
            </a:r>
            <a:br/>
            <a:r>
              <a:t>change_summary, created_by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3840480"/>
            <a:ext cx="34747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3931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A817"/>
                </a:solidFill>
              </a:defRPr>
            </a:pPr>
            <a:r>
              <a:t>cm_contract_approvals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42519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</a:defRPr>
            </a:pPr>
            <a:r>
              <a:t>approver_id, approval_status,</a:t>
            </a:r>
            <a:br/>
            <a:r>
              <a:t>notes, decided_at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8288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Relationships:</a:t>
            </a:r>
            <a:br/>
            <a:br/>
            <a:r>
              <a:t>negotiations → has many events</a:t>
            </a:r>
            <a:br/>
            <a:r>
              <a:t>negotiations → produces contract</a:t>
            </a:r>
            <a:br/>
            <a:r>
              <a:t>contracts → has many versions</a:t>
            </a:r>
            <a:br/>
            <a:r>
              <a:t>contracts → has many approvals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C8D"/>
                </a:solidFill>
              </a:defRPr>
            </a:pPr>
            <a:r>
              <a:t>Trammo Trading Desk  •  Contract Management Process Flows  •  February 2026  • 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457200"/>
            <a:ext cx="457200" cy="457200"/>
          </a:xfrm>
          <a:prstGeom prst="ellipse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D3A"/>
                </a:solidFill>
              </a:defRPr>
            </a:pPr>
            <a:r>
              <a:t>Competitive Positioning vs. sea.live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C8D"/>
                </a:solidFill>
              </a:defRPr>
            </a:pPr>
            <a:r>
              <a:t>sea.live provides contract management for commodity trading. Trammo adds quantitative solver validation and AI-powered decision support.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11247120" cy="365760"/>
          </a:xfrm>
          <a:prstGeom prst="roundRect">
            <a:avLst/>
          </a:prstGeom>
          <a:solidFill>
            <a:srgbClr val="0B1D3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476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Capability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9476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sea.live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9476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Trammo Trading Desk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19476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Advantage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31720"/>
            <a:ext cx="11247120" cy="384048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6829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D3A"/>
                </a:solidFill>
              </a:defRPr>
            </a:pPr>
            <a:r>
              <a:t>Contract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82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7AE60"/>
                </a:solidFill>
              </a:defRPr>
            </a:pPr>
            <a:r>
              <a:t>✓ Multi-step wizard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36829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7AE60"/>
                </a:solidFill>
              </a:defRPr>
            </a:pPr>
            <a:r>
              <a:t>✓ 7-step guided wizard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236829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C8D"/>
                </a:solidFill>
              </a:defRPr>
            </a:pPr>
            <a:r>
              <a:t>Comparable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743200"/>
            <a:ext cx="112471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77977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D3A"/>
                </a:solidFill>
              </a:defRPr>
            </a:pPr>
            <a:r>
              <a:t>LP Solver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77977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74C3C"/>
                </a:solidFill>
              </a:defRPr>
            </a:pPr>
            <a:r>
              <a:t>✗ Not available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77977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7AE60"/>
                </a:solidFill>
              </a:defRPr>
            </a:pPr>
            <a:r>
              <a:t>✓ HiGHS validates economics DURING contracting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277977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</a:defRPr>
            </a:pPr>
            <a:r>
              <a:t>Trammo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154679"/>
            <a:ext cx="11247120" cy="384048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191255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D3A"/>
                </a:solidFill>
              </a:defRPr>
            </a:pPr>
            <a:r>
              <a:t>AI-Powered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191255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74C3C"/>
                </a:solidFill>
              </a:defRPr>
            </a:pPr>
            <a:r>
              <a:t>✗ Not 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191255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7AE60"/>
                </a:solidFill>
              </a:defRPr>
            </a:pPr>
            <a:r>
              <a:t>✓ Claude explains solver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3191255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</a:defRPr>
            </a:pPr>
            <a:r>
              <a:t>Trammo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566160"/>
            <a:ext cx="112471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60273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D3A"/>
                </a:solidFill>
              </a:defRPr>
            </a:pPr>
            <a:r>
              <a:t>Real-Time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360273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39C12"/>
                </a:solidFill>
              </a:defRPr>
            </a:pPr>
            <a:r>
              <a:t>~ Market data feeds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60273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7AE60"/>
                </a:solidFill>
              </a:defRPr>
            </a:pPr>
            <a:r>
              <a:t>✓ 20 live variables from 10+ APIs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360273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</a:defRPr>
            </a:pPr>
            <a:r>
              <a:t>Trammo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977639"/>
            <a:ext cx="11247120" cy="384048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014215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D3A"/>
                </a:solidFill>
              </a:defRPr>
            </a:pPr>
            <a:r>
              <a:t>Pre-Contract Optimization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014215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74C3C"/>
                </a:solidFill>
              </a:defRPr>
            </a:pPr>
            <a:r>
              <a:t>✗ Optimize after signing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014215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7AE60"/>
                </a:solidFill>
              </a:defRPr>
            </a:pPr>
            <a:r>
              <a:t>✓ Optimize BEFORE approval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4014215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</a:defRPr>
            </a:pPr>
            <a:r>
              <a:t>Trammo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389120"/>
            <a:ext cx="112471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42569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D3A"/>
                </a:solidFill>
              </a:defRPr>
            </a:pPr>
            <a:r>
              <a:t>Event Vectorization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44256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74C3C"/>
                </a:solidFill>
              </a:defRPr>
            </a:pPr>
            <a:r>
              <a:t>✗ Not available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442569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7AE60"/>
                </a:solidFill>
              </a:defRPr>
            </a:pPr>
            <a:r>
              <a:t>✓ pgvector for semantic search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442569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</a:defRPr>
            </a:pPr>
            <a:r>
              <a:t>Trammo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800600"/>
            <a:ext cx="11247120" cy="384048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483717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D3A"/>
                </a:solidFill>
              </a:defRPr>
            </a:pPr>
            <a:r>
              <a:t>Counterparty Management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483717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7AE60"/>
                </a:solidFill>
              </a:defRPr>
            </a:pPr>
            <a:r>
              <a:t>✓ Full KYC directory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483717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39C12"/>
                </a:solidFill>
              </a:defRPr>
            </a:pPr>
            <a:r>
              <a:t>~ Inline entry (extensible)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483717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74C3C"/>
                </a:solidFill>
              </a:defRPr>
            </a:pPr>
            <a:r>
              <a:t>sea.live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212079"/>
            <a:ext cx="112471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248655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D3A"/>
                </a:solidFill>
              </a:defRPr>
            </a:pPr>
            <a:r>
              <a:t>Solver Constraint Bridge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0" y="5248655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74C3C"/>
                </a:solidFill>
              </a:defRPr>
            </a:pPr>
            <a:r>
              <a:t>✗ Contracts standalone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5248655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7AE60"/>
                </a:solidFill>
              </a:defRPr>
            </a:pPr>
            <a:r>
              <a:t>✓ Approved → live constraint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0" y="5248655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</a:defRPr>
            </a:pPr>
            <a:r>
              <a:t>Trammo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1520" y="5669280"/>
            <a:ext cx="10515600" cy="457200"/>
          </a:xfrm>
          <a:prstGeom prst="roundRect">
            <a:avLst/>
          </a:prstGeom>
          <a:solidFill>
            <a:srgbClr val="EAFAF1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400" y="5687568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KEY INSIGHT: sea.live treats contracts as legal/admin workflow. Trammo inserts an LP solver BEFORE approval, transforming contract signing into a decision support moment.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C8D"/>
                </a:solidFill>
              </a:defRPr>
            </a:pPr>
            <a:r>
              <a:t>Trammo Trading Desk  •  Contract Management Process Flows  •  February 2026  •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