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TRAMMO TRADING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Trading Desk</a:t>
            </a:r>
          </a:p>
          <a:p>
            <a:pPr algn="l"/>
            <a:r>
              <a:rPr sz="4400" b="1">
                <a:solidFill>
                  <a:srgbClr val="FFFFFF"/>
                </a:solidFill>
              </a:rP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CAF9"/>
                </a:solidFill>
              </a:rPr>
              <a:t>Decision Support Platform for Commodity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This document explains how the Trammo Trading Desk platform integrates real-time market data, contractual obligations, and supply chain constraints to identify and record optimal trading decisions — and how it keeps traders informed when conditions shift.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1883664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4462272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NH3 Domestic Barge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0904" y="4434840"/>
            <a:ext cx="1796795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4462272"/>
            <a:ext cx="16139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NH3 International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4860" y="4434840"/>
            <a:ext cx="2144268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6300" y="4462272"/>
            <a:ext cx="1961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Sulphur International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4434840"/>
            <a:ext cx="928116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4462272"/>
            <a:ext cx="7452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B5F6"/>
                </a:solidFill>
              </a:rPr>
              <a:t>Petcoke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515600" cy="18288"/>
          </a:xfrm>
          <a:prstGeom prst="rect">
            <a:avLst/>
          </a:prstGeom>
          <a:solidFill>
            <a:srgbClr val="1E3A5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D8B"/>
                </a:solidFill>
              </a:rPr>
              <a:t>Confidential — Internal Use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D8B"/>
                </a:solidFill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044"/>
                </a:solidFill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What the Platform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How it supports each product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371600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Data Ingestion &amp; the Live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Nine live data sources, polling schedule, variable assembly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965960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03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How the Operational Model is Formed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3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From raw data to a mathematical representation of the business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560320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97479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19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6974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Contract Ingestion &amp; SAP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7179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Contractual constraints, SAP validation, open-position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154679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39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2918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How the Solver Finds the Optimal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56615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Linear programming, Monte Carlo, shadow prices, decision signals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749039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31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The Auto Trader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605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Continuous monitoring, delta detection, automatic re-optimisation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343400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480560"/>
            <a:ext cx="411480" cy="41148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Trader Notifications &amp; Threshold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Email, Slack, Teams — what triggers an alert and what it contains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4937760"/>
            <a:ext cx="10515600" cy="9144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What the Platform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The Trading Desk is a real-time decision-support system that continuously ingests live market, operational, and environmental data to calculate the optimal trade allocation across every active route — and tells traders what to do, why, and when conditions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338560" cy="91440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47A1"/>
                </a:solidFill>
              </a:rPr>
              <a:t>At any moment, the platform holds a precise mathematical picture of the current operating environment — river depth, freight rates, inventory, commodity prices, barge availability, weather, lock delays, and working capital — all drawn from live APIs. It applies every active contractual obligation and solves a linear programme to find the allocation that maximises profit.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HOW EACH PRODUCT GROUP BENEFITS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11338560" cy="292608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821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Product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18211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Decision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182112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Critical 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47288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4838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47A1"/>
                </a:solidFill>
              </a:rPr>
              <a:t>NH3 Domestic Barge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8386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Which terminals to load, which destinations to serve, how many barges to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48386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River stage, barge count, NOLA spot price, freight rates, lock delays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31336"/>
            <a:ext cx="11338560" cy="384048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8679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47A1"/>
                </a:solidFill>
              </a:rPr>
              <a:t>NH3 International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679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Vessel scheduling, NOLA vs export arbitrage, vessel routing optimisation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67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Vessel positions, ocean freight, FOB/CIF spread, terminal inventory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15384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51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47A1"/>
                </a:solidFill>
              </a:rPr>
              <a:t>Sulphur International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51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Export volume allocation, vessel nomination, penalty exposure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251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Refinery run rates, vessel capacity, contract penalty clauses, spot premiums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99432"/>
            <a:ext cx="11338560" cy="384048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6360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47A1"/>
                </a:solidFill>
              </a:rPr>
              <a:t>Petcoke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6360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Destination market allocation, freight arbitrage, inventory drawdown 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63600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Refinery availability, port draft, ocean freight, quality differentials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338560" cy="502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12079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B5E20"/>
                </a:solidFill>
              </a:rPr>
              <a:t>Key principle: Every solve incorporates the current contractual position from SAP and the live market environment simultaneously — so the recommended trade always reflects both what the market offers and what the contracts require.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87568"/>
            <a:ext cx="54864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760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Trader Mode — Scenario Exploration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07607"/>
            <a:ext cx="53035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Open the dashboard, see 20 live variables, adjust with sliders, choose an objective, click Solve. Get route allocations, margins, shadow prices, and plain-English explanation in seconds.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5687568"/>
            <a:ext cx="55321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76072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Agent Mode — Continuous Optimisation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6007607"/>
            <a:ext cx="534924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Auto-runner monitors 20 variables continuously. When any moves beyond its threshold, it re-solves with 1,000 Monte Carlo scenarios, records the result, commits to audit trail, and notifies the trader.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1: What the Platform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Data Ingestion &amp; the Live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Nine external data sources feed the platform continuously. Each source is polled on a schedule, validated on arrival, and written into a live state store that the solver reads from at the moment it is called.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38527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USGS Gauges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River stage (ft), flow (cfs) — 4 gauges from Cairo IL to Baton Rouge 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874519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938527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NOAA Weather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6712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Temp, wind, visibility, 3-day precipitation — 4 stations along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496312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30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464" y="1874519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938527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USACE Lock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16712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Cumulative lock delay hours on Lower Mississippi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496312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30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4816" y="1874519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6" y="1938527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EIA — Henry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216712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Natural gas price ($/MMBtu) — affects NH3 production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496312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60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70632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34639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Market Feeds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6323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NOLA buy price, St. Louis delivered, Memphis delivered ($/ton)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92424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30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2770632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2834639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Freight Broker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306323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4 route rates: Don→StL, Don→Mem, Geis→StL, Geis→Mem ($/ton)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3392424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60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98464" y="2770632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2834639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Internal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306323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Terminal inventory, barge count, dock outages, working capital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3392424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14816" y="2770632"/>
            <a:ext cx="2651760" cy="804672"/>
          </a:xfrm>
          <a:prstGeom prst="rect">
            <a:avLst/>
          </a:prstGeom>
          <a:solidFill>
            <a:srgbClr val="F5F7FA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6256" y="2834639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Vessel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3063239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Fleet GPS, ETA, weather at vessel position, carrying 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3392424"/>
            <a:ext cx="2468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0A4AE"/>
                </a:solidFill>
              </a:rPr>
              <a:t>Every 10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976D2"/>
                </a:solidFill>
              </a:rPr>
              <a:t>↓↓↓↓↓↓↓↓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069080"/>
            <a:ext cx="5760720" cy="50292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4133088"/>
            <a:ext cx="5669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CAF9"/>
                </a:solidFill>
              </a:rPr>
              <a:t>Live State Store (ETS in-memory)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320540"/>
            <a:ext cx="5669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0CAF9"/>
                </a:solidFill>
              </a:rPr>
              <a:t>All 20 variables — always current, sub-second reads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590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73752"/>
            <a:ext cx="347472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9377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47A1"/>
                </a:solidFill>
              </a:rPr>
              <a:t>Variable Assembly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14807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D47A1"/>
                </a:solidFill>
              </a:rPr>
              <a:t>20 variables packed to binary for solver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4873752"/>
            <a:ext cx="3840480" cy="54864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9080" y="49377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A1B9A"/>
                </a:solidFill>
              </a:rPr>
              <a:t>Contract Constraint Bridge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514807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A1B9A"/>
                </a:solidFill>
              </a:rPr>
              <a:t>Active clauses tighten variable bounds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873752"/>
            <a:ext cx="3749039" cy="5486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4937760"/>
            <a:ext cx="36575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SAP Open Positions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148072"/>
            <a:ext cx="36575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65100"/>
                </a:solidFill>
              </a:rPr>
              <a:t>Current undelivered qty per contract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742432"/>
            <a:ext cx="5760720" cy="502920"/>
          </a:xfrm>
          <a:prstGeom prst="rect">
            <a:avLst/>
          </a:prstGeom>
          <a:solidFill>
            <a:srgbClr val="0F2044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6120" y="5806440"/>
            <a:ext cx="5669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CAF9"/>
                </a:solidFill>
              </a:rPr>
              <a:t>Zig LP Solver (HiGHS engine)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5993892"/>
            <a:ext cx="56692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0CAF9"/>
                </a:solidFill>
              </a:rPr>
              <a:t>Linear programme + Monte Carlo 1,000 scenarios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2: Data Ingestion &amp; the Live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044"/>
                </a:solidFill>
              </a:rPr>
              <a:t>The 20 Live Variables and Their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338560" cy="100584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Environment (6) — drawn from USGS, NOAA, USACE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545336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45336"/>
            <a:ext cx="14538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river_stage (ft)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1508760"/>
            <a:ext cx="1874519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6" y="1545336"/>
            <a:ext cx="1783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lock_hrs (delay hrs)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2" y="1508760"/>
            <a:ext cx="1133856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1545336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temp_f (°F)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5816" y="1508760"/>
            <a:ext cx="886968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1545336"/>
            <a:ext cx="795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wind_mph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508760"/>
            <a:ext cx="1792224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545336"/>
            <a:ext cx="1700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vis_mi (visibility)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508760"/>
            <a:ext cx="2039112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545336"/>
            <a:ext cx="1947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47A1"/>
                </a:solidFill>
              </a:rPr>
              <a:t>precip_in (3-day rain)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86000"/>
            <a:ext cx="11338560" cy="10058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3591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Operations (5) — drawn from internal ERP, fleet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97480"/>
            <a:ext cx="2697479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734056"/>
            <a:ext cx="2606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</a:rPr>
              <a:t>inv_don (tons, Donaldsonville)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2697480"/>
            <a:ext cx="2203704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734056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</a:rPr>
              <a:t>inv_geis (tons, Geismar)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2697480"/>
            <a:ext cx="2615184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96712" y="2734056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</a:rPr>
              <a:t>barge_count (available fleet)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2" y="2697480"/>
            <a:ext cx="2203704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1624" y="2734056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</a:rPr>
              <a:t>stl_outage (dock status)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61904" y="2697480"/>
            <a:ext cx="2203704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35056" y="2734056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D32"/>
                </a:solidFill>
              </a:rPr>
              <a:t>mem_outage (dock status)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74720"/>
            <a:ext cx="11338560" cy="10972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5478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Commercial (9) — drawn from market feeds, freight brokers, EIA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86200"/>
            <a:ext cx="1380744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922776"/>
            <a:ext cx="1289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nola_buy ($/t)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3391" y="3886200"/>
            <a:ext cx="1380744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66543" y="3922776"/>
            <a:ext cx="1289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sell_stl ($/t)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83863" y="3886200"/>
            <a:ext cx="1380744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7015" y="3922776"/>
            <a:ext cx="1289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sell_mem ($/t)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4336" y="3886200"/>
            <a:ext cx="1545336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7488" y="3922776"/>
            <a:ext cx="14538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fr_don_stl ($/t)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886200"/>
            <a:ext cx="1545336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02552" y="3922776"/>
            <a:ext cx="14538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fr_don_mem ($/t)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84464" y="3886200"/>
            <a:ext cx="1627632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57616" y="3922776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fr_geis_stl ($/t)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233672"/>
            <a:ext cx="1627632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270248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fr_geis_mem ($/t)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4233672"/>
            <a:ext cx="1627632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3432" y="4270248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nat_gas ($/MMBtu)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4233672"/>
            <a:ext cx="1463039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50791" y="4270248"/>
            <a:ext cx="1371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5100"/>
                </a:solidFill>
              </a:rPr>
              <a:t>working_cap ($)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846320"/>
            <a:ext cx="11338560" cy="68580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937759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47A1"/>
                </a:solidFill>
              </a:rPr>
              <a:t>Delta Detection: Each variable carries a configured sensitivity threshold (e.g., river_stage ±0.5 ft, nola_buy ±$2/ton). The auto-runner only re-solves when at least one variable moves beyond its threshold — avoiding unnecessary computation while still reacting promptly to material changes.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SOLVER OUTPUTS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870448"/>
            <a:ext cx="269748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9344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Route Allocations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1996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E7D32"/>
                </a:solidFill>
              </a:rPr>
              <a:t>Tons per route,
barges required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5870448"/>
            <a:ext cx="269748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39" y="59344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Profit &amp; Margins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39" y="61996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E7D32"/>
                </a:solidFill>
              </a:rPr>
              <a:t>Total P&amp;L, $/ton
per route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79" y="5870448"/>
            <a:ext cx="269748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199" y="59344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Risk Distribution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199" y="61996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E7D32"/>
                </a:solidFill>
              </a:rPr>
              <a:t>P5/P50/P95,
VaR, signal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6840" y="5870448"/>
            <a:ext cx="269748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59344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Shadow Prices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61996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E7D32"/>
                </a:solidFill>
              </a:rPr>
              <a:t>Value of relaxing
each constraint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2: Data Ingestion &amp; the Live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How the Operational Model Is 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The 20 live variables are assembled into a structured mathematical model — a linear programme — that represents the real physical and commercial constraints of the business.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WHAT THE MODEL ENCODES (NH3 Domestic Barge example)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1338560" cy="292608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305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Model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305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What It Represents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3055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How Variables Shape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5728"/>
            <a:ext cx="1133856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3230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Routes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323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Don→StL, Don→Mem, Geis→StL, Geis→Mem — each a physical path from terminal to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323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Freight rates, sell prices, and buy price determine the margin per ton on each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61488"/>
            <a:ext cx="11338560" cy="365760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980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Barge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980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Effective tons per barge — reduced when river stage is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7980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river_stage &lt;12 ft → 75% capacity; 12–18 ft → 90%; ≥18 ft → 100% (1,500 MT base)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27248"/>
            <a:ext cx="1133856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16382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Fleet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638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Total barges committed cannot exceed available 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1638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barge_count sets the hard upper bound; effective capacity scales with river stage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93008"/>
            <a:ext cx="11338560" cy="365760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52958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Inventory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5295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Cannot load more from a terminal than it 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52958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inv_don and inv_geis are the supply caps for Donaldsonville and Geismar routes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58768"/>
            <a:ext cx="1133856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95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Capital 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9534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Total product purchased cannot exceed available working capital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89534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working_cap sets the liquidity ceiling; nola_buy determines cost per ton purchased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24528"/>
            <a:ext cx="11338560" cy="365760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6110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Outage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2611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If a destination dock is out of service, that route's allocation is forced to zero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611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stl_outage / mem_outage set the upper bound on relevant route variables to zero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90288"/>
            <a:ext cx="11338560" cy="36576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268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Nat Gas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6268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Natural gas is a significant input cost at ammonia production terminals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6268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nat_gas adjusts the effective buy-side cost per ton, compressing or expanding margin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29200"/>
            <a:ext cx="11338560" cy="5943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20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BF360C"/>
                </a:solidFill>
              </a:rPr>
              <a:t>Example: River stage drops from 18 ft to 10 ft overnight. Effective barge capacity falls from 1,500 MT to 1,125 MT. The optimal solution may shift — fewer tons to distant destinations. The auto-runner detects the drop, triggers a re-solve, and notifies the trader with the updated allocation and new P&amp;L figure.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6875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OBJECTIVE MODES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925312"/>
            <a:ext cx="2788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9846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Max Profit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45352"/>
            <a:ext cx="260603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Maximise total gross profit across all routes. Standard mode for most commercial decisions.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9272" y="5925312"/>
            <a:ext cx="2788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0712" y="599846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Min Cost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0712" y="6245352"/>
            <a:ext cx="260603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Minimise total capital deployed while meeting delivery obligations. Used under capital constraints.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72783" y="5925312"/>
            <a:ext cx="2788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3" y="599846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Max ROI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3" y="6245352"/>
            <a:ext cx="260603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Maximise return on capital deployed — useful when competing with other product group opportunities.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26296" y="5925312"/>
            <a:ext cx="27889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17736" y="5998464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CVaR-Adjusted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17736" y="6245352"/>
            <a:ext cx="260603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Maximise expected profit while penalising tail risk. Monte Carlo distribution informs this.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3: How the Operational Model Is 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Contract Ingestion &amp; SAP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Before the solver can run, the platform must know what the business is contractually obligated to deliver — and what SAP records as the current open position. Contracts are the source of truth for constraints; SAP is the source of truth for positions.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65760" cy="36576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3852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92807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Document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Platform computes SHA-256 hash of each contract file in SharePoint. When hash changes (new version), ingestion is triggered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40279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365760" cy="365760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0545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97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AI Clause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8833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LLM pipeline extracts structured clause objects: quantity tolerances, delivery windows, penalty rates, price terms, incoterms, force majeure.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07208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65760" cy="365760"/>
          </a:xfrm>
          <a:prstGeom prst="rect">
            <a:avLst/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723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266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SAP Cross-Validation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5526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Platform fetches matching contract record from SAP (OData API) and compares extracted clause values. Discrepancies flagged for operations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37413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75304"/>
            <a:ext cx="365760" cy="36576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393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935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Legal Review &amp;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2219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Legal team reviews extracted clauses in the Contracts dashboard and approves or rejects. Only approved, SAP-validated contracts become active.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941064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7D8B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42232"/>
            <a:ext cx="365760" cy="36576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6052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32"/>
                </a:solidFill>
              </a:rPr>
              <a:t>Activation as Solver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Active clauses flow through the Constraint Bridge into the solver. Quantity minimums become floor constraints. Penalty clauses reduce effective margin.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SAP FIELDS — SYSTEM-OF-RECORD POSITION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103120"/>
            <a:ext cx="5394960" cy="292608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1305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SAP 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1305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1305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Solver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395728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4414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ContractQuantity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4414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Total agreed quantity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4414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Maximum volume ceiling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779776"/>
            <a:ext cx="5394960" cy="384048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82549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OpenQuantity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82549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Remaining undelivered qty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82549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Minimum allocation floor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163824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20954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DeliveredQuantity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209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Confirmed deliveries to 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2095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Verifies open position consistency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3547872"/>
            <a:ext cx="5394960" cy="384048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593591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Incoterms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593591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FOB, CIF, DAP, etc.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3593591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Determines cost elements — affects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4041648"/>
            <a:ext cx="5394960" cy="68580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413308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A1B9A"/>
                </a:solidFill>
              </a:rPr>
              <a:t>Readiness Gate: The solver will not run unless all contracts are approved, SAP-validated, have non-stale open positions (refreshed within 30 minutes), and all external API data is within its polling interval.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736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WHAT THE CONSTRAINT BRIDGE MEANS IN PRACTICE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29200"/>
            <a:ext cx="2788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02352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Quantity Floor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349240"/>
            <a:ext cx="2606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A long-term supply contract requires minimum 5,000 MT/month to St. Louis. The Bridge sets a lower bound — the solver cannot recommend less.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19272" y="5029200"/>
            <a:ext cx="2788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10712" y="5102352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Penalty Margin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0712" y="5349240"/>
            <a:ext cx="2606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A contract carries $15/ton shortfall penalty if below 80% of nominated volume. The Bridge reduces effective sell price by probability-weighted penalty.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2783" y="5029200"/>
            <a:ext cx="2788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64223" y="5102352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Price Override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3" y="5349240"/>
            <a:ext cx="2606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A fixed-price contract locks delivery at $400/ton regardless of spot. The Bridge replaces sell_stl with $400 for the covered tonnage.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26296" y="5029200"/>
            <a:ext cx="27889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17736" y="5102352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Delivery Window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17736" y="5349240"/>
            <a:ext cx="2606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Contract specifies delivery between the 15th and 25th. If the window is approaching, the Bridge elevates the minimum allocation to ensure on-time commitment.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4: Contract Ingestion &amp; SAP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How the Solver Finds the Optimal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The solver uses the HiGHS linear programming engine to find the exact allocation of product to routes that optimises the chosen objective while satisfying every constraint simultaneously.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LINEAR PROGRAMMING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486400" cy="210312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257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D47A1"/>
                </a:solidFill>
              </a:rPr>
              <a:t>Maximise: profit(Don→StL)×x₁ + profit(Don→Mem)×x₂ + profit(Geis→StL)×x₃ + profit(Geis→Mem)×x₄
Subject to:
  x₁ + x₂ ≤ inv_don          (Donaldsonville inventory)
  x₃ + x₄ ≤ inv_geis         (Geismar inventory)
  (x₁+x₂+x₃+x₄)/eff_barge ≤ barge_count   (fleet capacity)
  (x₁+x₂+x₃+x₄) × nola_buy ≤ working_cap  (capital)
  x₁ + x₃ ≥ contract_floor_stl             (contract minimum)
  x₂ = 0  if mem_outage = true              (dock outage)
  xᵢ ≥ 0  for all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MONTE CARLO: QUANTIFYING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55A64"/>
                </a:solidFill>
              </a:rPr>
              <a:t>The platform perturbs all 20 variables across 1,000 scenarios (e.g., river stage ±2 ft, NOLA buy ±$10/ton) and solves each independently to produce a full probability distribution.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70048"/>
            <a:ext cx="1024128" cy="594360"/>
          </a:xfrm>
          <a:prstGeom prst="rect">
            <a:avLst/>
          </a:prstGeom>
          <a:solidFill>
            <a:srgbClr val="C8E6C9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70662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5E20"/>
                </a:solidFill>
              </a:rPr>
              <a:t>STRONG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94436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5E20"/>
                </a:solidFill>
              </a:rPr>
              <a:t>5th percentile profit positive. Even worst-case scenarios are profitable.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2631" y="2670048"/>
            <a:ext cx="1024128" cy="594360"/>
          </a:xfrm>
          <a:prstGeom prst="rect">
            <a:avLst/>
          </a:prstGeom>
          <a:solidFill>
            <a:srgbClr val="DCEDC8"/>
          </a:solidFill>
          <a:ln w="19050">
            <a:solidFill>
              <a:srgbClr val="C5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7" y="270662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7D32"/>
                </a:solidFill>
              </a:rPr>
              <a:t>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7" y="294436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E7D32"/>
                </a:solidFill>
              </a:rPr>
              <a:t>25th percentile positive. Good probability of solid outcome.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670048"/>
            <a:ext cx="1024128" cy="594360"/>
          </a:xfrm>
          <a:prstGeom prst="rect">
            <a:avLst/>
          </a:prstGeom>
          <a:solidFill>
            <a:srgbClr val="FFE0B2"/>
          </a:solidFill>
          <a:ln w="1905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70662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65100"/>
                </a:solidFill>
              </a:rPr>
              <a:t>CAUTIOUS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4436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65100"/>
                </a:solidFill>
              </a:rPr>
              <a:t>Median positive but downside scenarios could be negative.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92056" y="2670048"/>
            <a:ext cx="1024128" cy="594360"/>
          </a:xfrm>
          <a:prstGeom prst="rect">
            <a:avLst/>
          </a:prstGeom>
          <a:solidFill>
            <a:srgbClr val="FFCCBC"/>
          </a:solidFill>
          <a:ln w="19050"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270662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F360C"/>
                </a:solidFill>
              </a:rPr>
              <a:t>WEAK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294436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F360C"/>
                </a:solidFill>
              </a:rPr>
              <a:t>Median positive but narrow. High sensitivity to variable moves.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16768" y="2670048"/>
            <a:ext cx="1024128" cy="594360"/>
          </a:xfrm>
          <a:prstGeom prst="rect">
            <a:avLst/>
          </a:prstGeom>
          <a:solidFill>
            <a:srgbClr val="FFCDD2"/>
          </a:solidFill>
          <a:ln w="1905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53344" y="2706624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71C1C"/>
                </a:solidFill>
              </a:rPr>
              <a:t>NO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344" y="294436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B71C1C"/>
                </a:solidFill>
              </a:rPr>
              <a:t>Median negative or infeasible in most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343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SHADOW PRICES — KNOWING WHAT TO NEGOTIATE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11338560" cy="292608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6451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Constraint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Shadow Price Meaning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4515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Trader 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10328"/>
            <a:ext cx="11338560" cy="34747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9469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Barge fleet is binding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94690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$X additional profit per extra barge 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9469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Charter a spot barge if shadow price exceeds charter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11338560" cy="347472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2943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Working capital is binding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943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$Y additional profit per $1,000 of extra capital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2943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Assess whether short-term credit is worth finance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05272"/>
            <a:ext cx="11338560" cy="34747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641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Inventory at Don is binding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6418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$Z additional profit per extra ton at Donaldsonville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6418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Evaluate opportunistic spot purchase to build inventory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52744"/>
            <a:ext cx="11338560" cy="347472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989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Contract minimum is binding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9893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Negative shadow price (constraint is costly)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989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Escalate to commercial — obligation is destroying margin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355080"/>
            <a:ext cx="11338560" cy="347472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446520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47A1"/>
                </a:solidFill>
              </a:rPr>
              <a:t>Sensitivity Analysis: After Monte Carlo, the platform reports which variables most strongly correlate with profit outcomes — e.g., 'Freight rates explain 42% of variance in this trade's profitability.'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5: How the Solver Finds the Optimal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The Auto Trader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The auto-runner continuously monitors all 20 live variables and automatically re-optimises whenever conditions move beyond a configured sensitivity threshold. It records every optimal outcome to an immutable audit trail.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CONTINUOUS MONITORING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377440" cy="640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671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47A1"/>
                </a:solidFill>
              </a:rPr>
              <a:t>Live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D47A1"/>
                </a:solidFill>
              </a:rPr>
              <a:t>Continuous API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103120"/>
            <a:ext cx="2743200" cy="640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16712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Delta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65100"/>
                </a:solidFill>
              </a:rPr>
              <a:t>|current − centre| ≥ threshold?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286000" cy="640080"/>
          </a:xfrm>
          <a:prstGeom prst="rect">
            <a:avLst/>
          </a:prstGeom>
          <a:solidFill>
            <a:srgbClr val="0F2044"/>
          </a:solidFill>
          <a:ln w="25400">
            <a:solidFill>
              <a:srgbClr val="0F2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1671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CAF9"/>
                </a:solidFill>
              </a:rPr>
              <a:t>LP + 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23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0CAF9"/>
                </a:solidFill>
              </a:rPr>
              <a:t>1,000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7D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103120"/>
            <a:ext cx="2743200" cy="640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16712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Optimal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E7D32"/>
                </a:solidFill>
              </a:rPr>
              <a:t>New centre point 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07D8B"/>
                </a:solidFill>
              </a:rPr>
              <a:t>↑ Also: trader notification + audit trail 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00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EXAMPLE DELTA THRESHOLDS (NH3 Domestic Barge)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56432"/>
            <a:ext cx="5669280" cy="27432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8386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4838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48386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Why This Level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30752"/>
            <a:ext cx="5669280" cy="32918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77647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river_stage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7764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±0.5 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776472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Half a foot can shift barge capacity 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59936"/>
            <a:ext cx="5669280" cy="329184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105656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nola_buy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10565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±$2/ton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105656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NH3 buy price moves in $2 increments; smaller moves are noise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89120"/>
            <a:ext cx="5669280" cy="32918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43484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lock_hrs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4348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±2 hrs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434840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Two hours of delay affects transit economics and timing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718304"/>
            <a:ext cx="5669280" cy="329184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7640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fr_don_stl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476402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±$3/ton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764024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$3 represents a decision-relevant freight shift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47488"/>
            <a:ext cx="5669280" cy="329184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09320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barge_count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50932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±1 barge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093208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Any change in available fleet directly changes max allocation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76672"/>
            <a:ext cx="5669280" cy="329184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42239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47A1"/>
                </a:solidFill>
              </a:rPr>
              <a:t>inv_don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42239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332"/>
                </a:solidFill>
              </a:rPr>
              <a:t>±500 tons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422392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~One-third of a barge load — material supply swing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00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WHAT HAPPENS AFTER A RE-SOLVE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474720"/>
            <a:ext cx="338328" cy="338328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520439"/>
            <a:ext cx="338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349300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Optimal Outcome Recorded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36941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Route allocations, profit, margins, MC distribution saved to ETS, Postgres, and SQLite.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005072"/>
            <a:ext cx="338328" cy="338328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050791"/>
            <a:ext cx="338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4023359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Immutable Chain Commit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42245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Solve payload is hashed (SHA-256), signed (ECDSA), encrypted (AES-256-GCM), and written to BSV blockchain as OP_RETURN.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535424"/>
            <a:ext cx="338328" cy="338328"/>
          </a:xfrm>
          <a:prstGeom prst="rect">
            <a:avLst/>
          </a:prstGeom>
          <a:solidFill>
            <a:srgbClr val="6A1B9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581144"/>
            <a:ext cx="338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5537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AI Analyst Explanation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4754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Platform generates plain-English explanation of why the auto-runner triggered and what changed in the recommendation.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065776"/>
            <a:ext cx="338328" cy="338328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5111496"/>
            <a:ext cx="338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508406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332"/>
                </a:solidFill>
              </a:rPr>
              <a:t>Trader Notification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52852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If profit change exceeds the trader's configured threshold, an alert is sent via their preferred channels.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715000"/>
            <a:ext cx="1133856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806440"/>
            <a:ext cx="11064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B5E20"/>
                </a:solidFill>
              </a:rPr>
              <a:t>Minimum Cooldown: The auto-runner enforces a minimum 5-minute interval between solves (configurable). A fallback scheduled solve runs every 60 minutes regardless of delta, ensuring the recommendation stays fresh even in quiet markets.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6: The Auto Trader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044"/>
                </a:solidFill>
              </a:rPr>
              <a:t>Trader Notifications &amp; Threshold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55A64"/>
                </a:solidFill>
              </a:rPr>
              <a:t>The notification system ensures that when conditions shift enough to change the optimal decision materially, the right trader is told — on their preferred channel — with enough context to act immediately.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8229600" cy="27432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WHAT TRIGGERS A NOTIFICATION — ALL THREE CONDITIONS MUST BE 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630168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3447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Condition 1 — Auto-solve triggered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4472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The auto-runner has solved because a variable moved beyond its delta threshold. A scheduled fallback solve alone does not trigger a notification.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2103120"/>
            <a:ext cx="3630168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76272"/>
            <a:ext cx="3447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Condition 2 — Profit delta exceeds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423160"/>
            <a:ext cx="34472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The profit change from last solve exceeds the trader's notify_threshold_profit (default $5,000). Small fluctuations don't generate noise.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2103120"/>
            <a:ext cx="3630168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2176272"/>
            <a:ext cx="3447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Condition 3 — Cooldown elapsed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423160"/>
            <a:ext cx="34472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At least notify_cooldown_minutes (default 30 min) have passed since the last notification. Back-to-back alerts are suppressed.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SAMPLE NOTIFICATION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56432"/>
            <a:ext cx="7040880" cy="22402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29584"/>
            <a:ext cx="6812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D47A1"/>
                </a:solidFill>
              </a:rPr>
              <a:t>Subject: NH3 Domestic — Auto Solve: $142,500 (▲ $18,200)
Hi Sarah,
The Trammo NH3 Domestic Trading Desk has triggered an auto-solve.
Current Expected Profit: $142,500
Change from Last Solve: ▲ $18,200
Triggered by: river_stage (was 11.8 ft → now 18.3 ft, threshold ±0.5 ft)
Monte Carlo (1,000 scenarios):
  Mean: $138,900   VaR₅: $62,400   P95: $210,500
  Signal: STRONG GO — 97% of scenarios profitable
Analyst Note: River stage recovered to 18.3 ft, restoring full barge capacity (1,500 MT/barge). The binding constraint shifted from fleet capacity back to working capital. Recommend committing to Don→StL at full allocation before freight rates respond to the gauge reading.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NOTIFICATION 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456432"/>
            <a:ext cx="44805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52958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76472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Full detail; useful when away from desk or for record-keeping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123944"/>
            <a:ext cx="44805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19709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Slack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443983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Real-time team visibility; multiple traders can see the same alert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791456"/>
            <a:ext cx="44805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8646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MS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111496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455A64"/>
                </a:solidFill>
              </a:rPr>
              <a:t>Preferred for organisations running Teams as primary collaboration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572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TRADER-CONFIGURABLE SETTINGS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828032"/>
            <a:ext cx="4480560" cy="256032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8554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85546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5084064"/>
            <a:ext cx="4480560" cy="34747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129783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47A1"/>
                </a:solidFill>
              </a:rPr>
              <a:t>notify_threshold_profit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12978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$5,000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431536"/>
            <a:ext cx="4480560" cy="347472"/>
          </a:xfrm>
          <a:prstGeom prst="rect">
            <a:avLst/>
          </a:prstGeom>
          <a:solidFill>
            <a:srgbClr val="F5F7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547725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47A1"/>
                </a:solidFill>
              </a:rPr>
              <a:t>notify_cooldown_minutes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47725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30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5779007"/>
            <a:ext cx="4480560" cy="347472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5824727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47A1"/>
                </a:solidFill>
              </a:rPr>
              <a:t>notifications_paused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582472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2332"/>
                </a:solidFill>
              </a:rPr>
              <a:t>false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7607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976D2"/>
                </a:solidFill>
              </a:rPr>
              <a:t>THE TRADER'S OPTIMISATION 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16752"/>
            <a:ext cx="320040" cy="320040"/>
          </a:xfrm>
          <a:prstGeom prst="rect">
            <a:avLst/>
          </a:prstGeom>
          <a:solidFill>
            <a:srgbClr val="0F20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062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32"/>
                </a:solidFill>
              </a:rPr>
              <a:t>Receive notification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236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Alert arrives with optimal outcome, what changed, and analyst's plain-English interpretation.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9272" y="6016752"/>
            <a:ext cx="320040" cy="320040"/>
          </a:xfrm>
          <a:prstGeom prst="rect">
            <a:avLst/>
          </a:prstGeom>
          <a:solidFill>
            <a:srgbClr val="1976D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9272" y="6062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5032" y="6035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32"/>
                </a:solidFill>
              </a:rPr>
              <a:t>Open Trader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5032" y="6236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Use dashboard sliders to test variations. Solver responds in under a second.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2783" y="6016752"/>
            <a:ext cx="320040" cy="320040"/>
          </a:xfrm>
          <a:prstGeom prst="rect">
            <a:avLst/>
          </a:prstGeom>
          <a:solidFill>
            <a:srgbClr val="2E7D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3" y="6062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6035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32"/>
                </a:solidFill>
              </a:rPr>
              <a:t>Review shadow prices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38544" y="6236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Shadow prices show where negotiations deliver most value.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26296" y="6016752"/>
            <a:ext cx="320040" cy="320040"/>
          </a:xfrm>
          <a:prstGeom prst="rect">
            <a:avLst/>
          </a:prstGeom>
          <a:solidFill>
            <a:srgbClr val="E651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26296" y="6062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92056" y="6035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32"/>
                </a:solidFill>
              </a:rPr>
              <a:t>Commit the trade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92056" y="62362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55A64"/>
                </a:solidFill>
              </a:rPr>
              <a:t>Execute in the market. Auto-runner picks up new centre point and resumes monitoring.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83680"/>
            <a:ext cx="12188952" cy="18288"/>
          </a:xfrm>
          <a:prstGeom prst="rect">
            <a:avLst/>
          </a:prstGeom>
          <a:solidFill>
            <a:srgbClr val="B0BEC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D8B"/>
                </a:solidFill>
              </a:rPr>
              <a:t>Trammo Trading Desk — Executive Overview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D8B"/>
                </a:solidFill>
              </a:rPr>
              <a:t>Section 7: Trader Notifications &amp; Threshold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